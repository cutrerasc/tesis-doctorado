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  <p:sldId id="263" r:id="rId9"/>
    <p:sldId id="265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0D667C-47D3-4068-84E6-683E7BFE39B0}" v="3" dt="2026-03-09T19:40:24.069"/>
    <p1510:client id="{6DDB71B9-F114-4BC4-BB2E-BA4E6B78E1BC}" v="1145" dt="2026-03-08T22:17:26.313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0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Utreras" userId="21a7d57e8591b932" providerId="LiveId" clId="{3D47D72A-6394-46F0-88AF-A9E836802BAF}"/>
    <pc:docChg chg="custSel addSld modSld">
      <pc:chgData name="Camila Utreras" userId="21a7d57e8591b932" providerId="LiveId" clId="{3D47D72A-6394-46F0-88AF-A9E836802BAF}" dt="2026-03-09T19:43:42.895" v="274" actId="20577"/>
      <pc:docMkLst>
        <pc:docMk/>
      </pc:docMkLst>
      <pc:sldChg chg="modSp mod">
        <pc:chgData name="Camila Utreras" userId="21a7d57e8591b932" providerId="LiveId" clId="{3D47D72A-6394-46F0-88AF-A9E836802BAF}" dt="2026-03-09T19:43:42.895" v="274" actId="20577"/>
        <pc:sldMkLst>
          <pc:docMk/>
          <pc:sldMk cId="3384679681" sldId="263"/>
        </pc:sldMkLst>
        <pc:spChg chg="mod">
          <ac:chgData name="Camila Utreras" userId="21a7d57e8591b932" providerId="LiveId" clId="{3D47D72A-6394-46F0-88AF-A9E836802BAF}" dt="2026-03-09T19:43:42.895" v="274" actId="20577"/>
          <ac:spMkLst>
            <pc:docMk/>
            <pc:sldMk cId="3384679681" sldId="263"/>
            <ac:spMk id="3" creationId="{DCF1EADB-E0C2-2824-EE56-56348BD2BCCD}"/>
          </ac:spMkLst>
        </pc:spChg>
      </pc:sldChg>
      <pc:sldChg chg="addSp modSp new mod">
        <pc:chgData name="Camila Utreras" userId="21a7d57e8591b932" providerId="LiveId" clId="{3D47D72A-6394-46F0-88AF-A9E836802BAF}" dt="2026-03-09T19:38:34.881" v="90" actId="1076"/>
        <pc:sldMkLst>
          <pc:docMk/>
          <pc:sldMk cId="1768542031" sldId="269"/>
        </pc:sldMkLst>
        <pc:spChg chg="mod">
          <ac:chgData name="Camila Utreras" userId="21a7d57e8591b932" providerId="LiveId" clId="{3D47D72A-6394-46F0-88AF-A9E836802BAF}" dt="2026-03-09T19:38:31.512" v="89" actId="20577"/>
          <ac:spMkLst>
            <pc:docMk/>
            <pc:sldMk cId="1768542031" sldId="269"/>
            <ac:spMk id="3" creationId="{F222CBEF-8A28-F494-21AD-13211EBF44CC}"/>
          </ac:spMkLst>
        </pc:spChg>
        <pc:picChg chg="add mod">
          <ac:chgData name="Camila Utreras" userId="21a7d57e8591b932" providerId="LiveId" clId="{3D47D72A-6394-46F0-88AF-A9E836802BAF}" dt="2026-03-09T19:38:34.881" v="90" actId="1076"/>
          <ac:picMkLst>
            <pc:docMk/>
            <pc:sldMk cId="1768542031" sldId="269"/>
            <ac:picMk id="5" creationId="{3BF90E13-E2CB-01C4-F072-4C5BC528A86A}"/>
          </ac:picMkLst>
        </pc:picChg>
      </pc:sldChg>
      <pc:sldChg chg="addSp delSp modSp new mod">
        <pc:chgData name="Camila Utreras" userId="21a7d57e8591b932" providerId="LiveId" clId="{3D47D72A-6394-46F0-88AF-A9E836802BAF}" dt="2026-03-09T19:41:54.619" v="188" actId="1076"/>
        <pc:sldMkLst>
          <pc:docMk/>
          <pc:sldMk cId="3286758479" sldId="270"/>
        </pc:sldMkLst>
        <pc:spChg chg="mod">
          <ac:chgData name="Camila Utreras" userId="21a7d57e8591b932" providerId="LiveId" clId="{3D47D72A-6394-46F0-88AF-A9E836802BAF}" dt="2026-03-09T19:39:51.819" v="173" actId="20577"/>
          <ac:spMkLst>
            <pc:docMk/>
            <pc:sldMk cId="3286758479" sldId="270"/>
            <ac:spMk id="3" creationId="{3E4BF04C-C57B-9CB7-2C31-51A2F174B469}"/>
          </ac:spMkLst>
        </pc:spChg>
        <pc:picChg chg="add del mod">
          <ac:chgData name="Camila Utreras" userId="21a7d57e8591b932" providerId="LiveId" clId="{3D47D72A-6394-46F0-88AF-A9E836802BAF}" dt="2026-03-09T19:41:50.414" v="185" actId="478"/>
          <ac:picMkLst>
            <pc:docMk/>
            <pc:sldMk cId="3286758479" sldId="270"/>
            <ac:picMk id="5" creationId="{417F9DEC-D216-12E4-CC7B-C4B1A6C75938}"/>
          </ac:picMkLst>
        </pc:picChg>
        <pc:picChg chg="add mod">
          <ac:chgData name="Camila Utreras" userId="21a7d57e8591b932" providerId="LiveId" clId="{3D47D72A-6394-46F0-88AF-A9E836802BAF}" dt="2026-03-09T19:41:54.619" v="188" actId="1076"/>
          <ac:picMkLst>
            <pc:docMk/>
            <pc:sldMk cId="3286758479" sldId="270"/>
            <ac:picMk id="7" creationId="{6BE91C9D-194B-94A1-53AF-887483062D54}"/>
          </ac:picMkLst>
        </pc:picChg>
      </pc:sldChg>
      <pc:sldChg chg="addSp delSp modSp new mod">
        <pc:chgData name="Camila Utreras" userId="21a7d57e8591b932" providerId="LiveId" clId="{3D47D72A-6394-46F0-88AF-A9E836802BAF}" dt="2026-03-09T19:42:32.301" v="197" actId="1076"/>
        <pc:sldMkLst>
          <pc:docMk/>
          <pc:sldMk cId="2748619619" sldId="271"/>
        </pc:sldMkLst>
        <pc:picChg chg="add mod">
          <ac:chgData name="Camila Utreras" userId="21a7d57e8591b932" providerId="LiveId" clId="{3D47D72A-6394-46F0-88AF-A9E836802BAF}" dt="2026-03-09T19:40:16.977" v="180" actId="1076"/>
          <ac:picMkLst>
            <pc:docMk/>
            <pc:sldMk cId="2748619619" sldId="271"/>
            <ac:picMk id="4" creationId="{C4049751-BAB0-A3EC-6D17-6AFD48F4E997}"/>
          </ac:picMkLst>
        </pc:picChg>
        <pc:picChg chg="add mod">
          <ac:chgData name="Camila Utreras" userId="21a7d57e8591b932" providerId="LiveId" clId="{3D47D72A-6394-46F0-88AF-A9E836802BAF}" dt="2026-03-09T19:42:32.301" v="197" actId="1076"/>
          <ac:picMkLst>
            <pc:docMk/>
            <pc:sldMk cId="2748619619" sldId="271"/>
            <ac:picMk id="5" creationId="{C03CE5B4-DE6D-E634-90A4-5BF85AB437C5}"/>
          </ac:picMkLst>
        </pc:picChg>
        <pc:picChg chg="add del mod">
          <ac:chgData name="Camila Utreras" userId="21a7d57e8591b932" providerId="LiveId" clId="{3D47D72A-6394-46F0-88AF-A9E836802BAF}" dt="2026-03-09T19:41:58.596" v="189" actId="478"/>
          <ac:picMkLst>
            <pc:docMk/>
            <pc:sldMk cId="2748619619" sldId="271"/>
            <ac:picMk id="6" creationId="{49F9429E-FB17-9109-2B1C-0F6A9C0D187D}"/>
          </ac:picMkLst>
        </pc:picChg>
        <pc:picChg chg="add mod">
          <ac:chgData name="Camila Utreras" userId="21a7d57e8591b932" providerId="LiveId" clId="{3D47D72A-6394-46F0-88AF-A9E836802BAF}" dt="2026-03-09T19:42:30.952" v="196" actId="1076"/>
          <ac:picMkLst>
            <pc:docMk/>
            <pc:sldMk cId="2748619619" sldId="271"/>
            <ac:picMk id="8" creationId="{B3D6AA63-3CA2-62A1-A79D-98D8FEB746E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88779-ADBF-7C86-C68C-3839FC677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75B751-CBE6-0E89-0458-D7B6C8D25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AA8C62-03FD-07FC-A1DB-BAA0C777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192D4D-1F6F-2B57-6B8B-330D6297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653AAD-0AF2-BBF1-29D2-5BA7C117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72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AA98D-F6BA-42B0-02D1-500D9096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822E82-CF33-8F33-7D48-B0E5C075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7C95BC-3A63-5613-C928-0A3C20D1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8E547-254D-821B-3DDB-4EF8C07F7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7F1E70-8A6E-D27E-A04C-96877078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61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4F10A-D8BB-1223-ABBB-C331FBA8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6D8D16-EE75-C10A-FAAA-8F5247368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E098A1-3692-9DC7-4535-68817B5A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178B85-BCB2-6EF7-8FF4-ACEEE826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72832A-CCDB-49BD-0AB3-794D6998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473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CADBA-96BE-8144-622B-0914674C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7F0737-A44F-CC63-4F62-96037426B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48DBCE-D5B9-B196-7D7F-7CD8FE7E0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E74848-E41B-8E1D-C2C1-D858CDF34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8094DC-0745-B6C6-2E75-2C8ACCF4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6F3AC3-0A38-514D-FFB2-A9967D3C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93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20F3-1599-53CD-85C2-0401C2599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0E5B04-15DC-B5D4-8091-8D8574468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65C315-ADF8-7918-8976-EFE87C2B3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E27565-1C85-0D52-B7DA-6C8F86AD9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8AB8E1-24D6-6272-00AE-368EFC47D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87D50B-F216-3A44-736C-7729BB44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C3C071-6057-33EC-8489-3A8DA6C4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1B8ECDD-AACB-3968-527F-75F54DF7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843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407ED-FD29-7DFA-A788-4476C06BF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AFF0AE-DF38-18CD-712B-547624A1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22E924-11F9-3CE1-5BF4-7B6E4092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E3FE5E-69C0-B821-73E5-2D3E6173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083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B5C0F7-52BE-BB6D-ACBE-E5E71D0A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7EC46D-778C-CB32-9254-23A34E1A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D66856-72AB-2AD1-9FEB-43B2B0B2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168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5D92A-F41B-2170-DFB3-733FE7D02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F9FD37-D364-E323-B52B-FE1025486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88CEAB-967F-3DE6-E670-295A609BA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196293-5A06-8991-A980-8BADB725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202987-AB91-C6F6-086A-91F7844D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8205FF-057C-01F6-3CE8-9458053F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362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376B4-5405-79AB-3997-B23372F5F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8E153BA-07C1-FCA2-61CE-0CDF987AF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75FE72-FFBB-CB58-351E-E43A9D9B5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279BA8-7B49-E4D8-1674-E315E079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3390CA-C045-2836-6EA8-C8314603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DB0E8E-6874-732D-C97D-59F4F86A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1809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397A4-E9FA-BEEB-06F9-4EAB771A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4C5DF3-FF53-7CDB-D720-1FD5B0B47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8D6584-52B0-BBC5-1DE9-931CEECB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F1509-5CE7-2701-646A-B606E711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4453F3-CFDB-C548-022A-8FB417AC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11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43F53C-8E49-388F-E30D-A49824945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BCC8D7-2C7D-D1B0-D629-9192FDA8C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963E0E-4651-B2E4-D045-07060E73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631C76-9962-9FEA-50CF-66050A7B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E63F3-D7F2-65CC-6700-C1E30FC1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908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EA052D-8A7D-C9CC-574E-86B90D0A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544BF9-141B-5844-E452-0B7DF59C3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D2899E-703E-EB33-F03E-14FEC9286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381AF-40DE-4615-91FF-5988B1855496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610FA0-83DE-2491-5C95-FAB1455EA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D7040D-7084-84FF-CBEB-978F2F18C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F1D00-A230-4161-9736-AB14A8281D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4309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B0EC0-7691-12D9-D55C-DA9FD88EE4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Modelo: Secuencia óptima de aprendizaje para pensiones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1C5D8B-908F-4C8A-171A-C0C3408AA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Camila Utreras</a:t>
            </a:r>
          </a:p>
        </p:txBody>
      </p:sp>
    </p:spTree>
    <p:extLst>
      <p:ext uri="{BB962C8B-B14F-4D97-AF65-F5344CB8AC3E}">
        <p14:creationId xmlns:p14="http://schemas.microsoft.com/office/powerpoint/2010/main" val="45792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86AC9-7E27-9EF4-5E26-347A2B8A8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Parámetros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43A39C-163F-5284-FC01-5FF2ABCCE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022" y="1569232"/>
            <a:ext cx="8857957" cy="48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4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95623F38-34E6-3C2C-7511-ADF29DBFC2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CL" dirty="0"/>
                  <a:t>Beneficio: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C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s-CL" b="0" i="1" dirty="0" smtClean="0">
                            <a:latin typeface="Cambria Math" panose="02040503050406030204" pitchFamily="18" charset="0"/>
                          </a:rPr>
                          <m:t>𝑗𝑡</m:t>
                        </m:r>
                      </m:sub>
                    </m:sSub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95623F38-34E6-3C2C-7511-ADF29DBFC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3F04E89-D988-AA5D-89DC-55F49B7F0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C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𝑗𝑡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nary>
                      <m:naryPr>
                        <m:limLoc m:val="undOvr"/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s-C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C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s-CL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s-CL" dirty="0"/>
              </a:p>
              <a:p>
                <a:pPr marL="0" indent="0">
                  <a:buNone/>
                </a:pPr>
                <a:endParaRPr lang="es-CL" dirty="0"/>
              </a:p>
              <a:p>
                <a:r>
                  <a:rPr lang="es-CL" dirty="0"/>
                  <a:t>Donde: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CL" dirty="0"/>
                  <a:t>: peso relativo del concepto j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CL" dirty="0"/>
                  <a:t>: tiempo del concepto j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CL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L" dirty="0"/>
                  <a:t>: es la función de desempeño cognitivo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3F04E89-D988-AA5D-89DC-55F49B7F0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090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C07E4-FCF1-5165-10BA-6ABCE953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5B823F7-15DA-6DC5-A56B-222CDFC57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12" y="1554480"/>
            <a:ext cx="9173792" cy="45599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578A751-154D-13BD-63BC-921515B1E320}"/>
              </a:ext>
            </a:extLst>
          </p:cNvPr>
          <p:cNvSpPr txBox="1"/>
          <p:nvPr/>
        </p:nvSpPr>
        <p:spPr>
          <a:xfrm>
            <a:off x="9615268" y="1456007"/>
            <a:ext cx="225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Maximizar beneficio total de la secuencia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2EC19BD-782E-3096-F8DB-DE9E26A4E9B9}"/>
              </a:ext>
            </a:extLst>
          </p:cNvPr>
          <p:cNvSpPr txBox="1"/>
          <p:nvPr/>
        </p:nvSpPr>
        <p:spPr>
          <a:xfrm>
            <a:off x="9615268" y="2412238"/>
            <a:ext cx="225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Límite temporal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536912-C622-14D4-F147-9B953883D8DD}"/>
              </a:ext>
            </a:extLst>
          </p:cNvPr>
          <p:cNvSpPr txBox="1"/>
          <p:nvPr/>
        </p:nvSpPr>
        <p:spPr>
          <a:xfrm>
            <a:off x="9615268" y="3105834"/>
            <a:ext cx="225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Cada concepto se muestra solo una vez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154BE2-36A4-286C-00F8-E7B37DC4464E}"/>
              </a:ext>
            </a:extLst>
          </p:cNvPr>
          <p:cNvSpPr txBox="1"/>
          <p:nvPr/>
        </p:nvSpPr>
        <p:spPr>
          <a:xfrm>
            <a:off x="9615268" y="3834463"/>
            <a:ext cx="225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 superposición de actividades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CACD9F-B9F9-E1A2-6A84-4B276C743FEB}"/>
              </a:ext>
            </a:extLst>
          </p:cNvPr>
          <p:cNvSpPr txBox="1"/>
          <p:nvPr/>
        </p:nvSpPr>
        <p:spPr>
          <a:xfrm>
            <a:off x="9615268" y="4808498"/>
            <a:ext cx="225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Respeto de las precedencias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A4C9D3-78D2-C75B-B556-75603C02C0B0}"/>
              </a:ext>
            </a:extLst>
          </p:cNvPr>
          <p:cNvSpPr txBox="1"/>
          <p:nvPr/>
        </p:nvSpPr>
        <p:spPr>
          <a:xfrm>
            <a:off x="9615268" y="5524115"/>
            <a:ext cx="225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Naturaleza de las variables </a:t>
            </a:r>
          </a:p>
        </p:txBody>
      </p:sp>
    </p:spTree>
    <p:extLst>
      <p:ext uri="{BB962C8B-B14F-4D97-AF65-F5344CB8AC3E}">
        <p14:creationId xmlns:p14="http://schemas.microsoft.com/office/powerpoint/2010/main" val="3087233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695B3-7151-CDB3-3FD9-24299C89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Implementación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97B5708-640A-A82D-4350-00BF7FA91D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s-CL" dirty="0"/>
                  <a:t>Conjuntos: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C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𝒥</m:t>
                    </m:r>
                  </m:oMath>
                </a14:m>
                <a:r>
                  <a:rPr lang="es-CL" dirty="0"/>
                  <a:t>: conceptos {1,..,36}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s-CL" dirty="0"/>
                  <a:t>: matriz de precedencia de conceptos (validada en un 50% aprox. Con expertos de SP) </a:t>
                </a:r>
              </a:p>
              <a:p>
                <a:pPr marL="0" indent="0">
                  <a:buNone/>
                </a:pPr>
                <a:r>
                  <a:rPr lang="es-CL" dirty="0"/>
                  <a:t>Parámetros</a:t>
                </a:r>
              </a:p>
              <a:p>
                <a14:m>
                  <m:oMath xmlns:m="http://schemas.openxmlformats.org/officeDocument/2006/math">
                    <m:r>
                      <a:rPr lang="es-CL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CL" dirty="0"/>
                  <a:t>: tiempo total disponible 900 </a:t>
                </a:r>
                <a:r>
                  <a:rPr lang="es-CL" dirty="0" err="1"/>
                  <a:t>seg</a:t>
                </a:r>
                <a:r>
                  <a:rPr lang="es-CL" dirty="0"/>
                  <a:t> /10  (disminuir la cantidad de variables)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CL" dirty="0"/>
                  <a:t>: tiempo estimado de cada concepto j /10 (medido en entrevistas cognitivas)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CL" dirty="0"/>
                  <a:t>: peso relativo del concepto j, construido a partir de la estructura de la matriz de precedencias, considerando: </a:t>
                </a:r>
              </a:p>
              <a:p>
                <a:pPr lvl="1"/>
                <a:r>
                  <a:rPr lang="es-CL" dirty="0"/>
                  <a:t>Cantidad de nodos descendentes (cuántos nodos abre si se elige): 60%</a:t>
                </a:r>
              </a:p>
              <a:p>
                <a:pPr lvl="1"/>
                <a:r>
                  <a:rPr lang="es-CL" dirty="0" err="1"/>
                  <a:t>Out</a:t>
                </a:r>
                <a:r>
                  <a:rPr lang="es-CL" dirty="0"/>
                  <a:t> </a:t>
                </a:r>
                <a:r>
                  <a:rPr lang="es-CL" dirty="0" err="1"/>
                  <a:t>Degree</a:t>
                </a:r>
                <a:r>
                  <a:rPr lang="es-CL" dirty="0"/>
                  <a:t> (nodos inmediatamente posteriores): 15%</a:t>
                </a:r>
              </a:p>
              <a:p>
                <a:pPr lvl="1"/>
                <a:r>
                  <a:rPr lang="es-CL" dirty="0"/>
                  <a:t>Betweenness Centrality (caminos que pasan por el nodo): 25%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97B5708-640A-A82D-4350-00BF7FA91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081" b="-140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063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F613F-7233-5C79-0424-D13FDD4E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4E085-E5FB-8641-DE15-B383C162D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Implementación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7EA369-A965-5308-F316-3EF34FB27A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255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L" dirty="0"/>
                  <a:t>Parámetros</a:t>
                </a:r>
              </a:p>
              <a:p>
                <a14:m>
                  <m:oMath xmlns:m="http://schemas.openxmlformats.org/officeDocument/2006/math">
                    <m:r>
                      <a:rPr lang="es-C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CL" dirty="0"/>
                  <a:t>: función de desempeño cognitivo</a:t>
                </a:r>
              </a:p>
              <a:p>
                <a:endParaRPr lang="es-CL" dirty="0"/>
              </a:p>
              <a:p>
                <a14:m>
                  <m:oMath xmlns:m="http://schemas.openxmlformats.org/officeDocument/2006/math">
                    <m:r>
                      <a:rPr lang="es-C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CL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CL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s-CL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L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s-CL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den>
                                  </m:f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e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0≤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s-CL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L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num>
                                    <m:den>
                                      <m:r>
                                        <a:rPr lang="es-CL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den>
                                  </m:f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</m:e>
                                <m:e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e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𝑒𝑛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𝑜𝑡𝑟𝑜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</a:rPr>
                                    <m:t>𝑐𝑎𝑠𝑜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r>
                  <a:rPr lang="es-CL" dirty="0"/>
                  <a:t> </a:t>
                </a:r>
              </a:p>
              <a:p>
                <a:pPr marL="0" indent="0">
                  <a:buNone/>
                </a:pPr>
                <a:r>
                  <a:rPr lang="es-CL" dirty="0"/>
                  <a:t>Con </a:t>
                </a:r>
                <a14:m>
                  <m:oMath xmlns:m="http://schemas.openxmlformats.org/officeDocument/2006/math">
                    <m:r>
                      <a:rPr lang="es-CL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=60, 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=8.5, 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7EA369-A965-5308-F316-3EF34FB27A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255" y="1825625"/>
                <a:ext cx="10515600" cy="4351338"/>
              </a:xfrm>
              <a:blipFill>
                <a:blip r:embed="rId2"/>
                <a:stretch>
                  <a:fillRect l="-1159" t="-238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29599E87-80DA-C9E5-355C-A65C66543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055" y="2969231"/>
            <a:ext cx="6552032" cy="266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58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E7456-FE2E-EB36-6DEC-56F26810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3675"/>
            <a:ext cx="10515600" cy="1325563"/>
          </a:xfrm>
        </p:spPr>
        <p:txBody>
          <a:bodyPr/>
          <a:lstStyle/>
          <a:p>
            <a:r>
              <a:rPr lang="es-CL" dirty="0"/>
              <a:t>Resultados previos (con 36 conceptos)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07D0E8-4FC3-0867-3159-797798C2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522" y="3829089"/>
            <a:ext cx="4173593" cy="30194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3A18994-3866-C7F8-B9AD-A2FC600B9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97" y="4372323"/>
            <a:ext cx="4023883" cy="15698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A338B0E-7BAD-FC9C-7128-56A39117B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4076"/>
            <a:ext cx="12192000" cy="300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5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ED6CF-4A3C-AAAF-B164-EEB00D852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Por hacer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F1EADB-E0C2-2824-EE56-56348BD2B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Elegir una curva de desempeño cognitivo acorde</a:t>
            </a:r>
          </a:p>
          <a:p>
            <a:r>
              <a:rPr lang="es-MX" dirty="0"/>
              <a:t> Correr el modelo con delta de 1 </a:t>
            </a:r>
            <a:r>
              <a:rPr lang="es-MX" dirty="0" err="1"/>
              <a:t>seg</a:t>
            </a:r>
            <a:r>
              <a:rPr lang="es-MX" dirty="0"/>
              <a:t>. </a:t>
            </a:r>
          </a:p>
          <a:p>
            <a:r>
              <a:rPr lang="es-MX" dirty="0"/>
              <a:t>Validación de precedencias faltantes</a:t>
            </a:r>
          </a:p>
          <a:p>
            <a:r>
              <a:rPr lang="es-MX" dirty="0"/>
              <a:t>Validación de la importancia relativa y/o revisar </a:t>
            </a:r>
            <a:r>
              <a:rPr lang="es-MX" dirty="0" err="1"/>
              <a:t>poderadores</a:t>
            </a:r>
            <a:r>
              <a:rPr lang="es-MX" dirty="0"/>
              <a:t> para la construcción </a:t>
            </a:r>
          </a:p>
          <a:p>
            <a:r>
              <a:rPr lang="es-MX" dirty="0"/>
              <a:t>Generar Sub matrices de precedencias para los 4 perfiles con conceptos relevantes para el perfil. </a:t>
            </a:r>
          </a:p>
          <a:p>
            <a:r>
              <a:rPr lang="es-MX"/>
              <a:t>Opción: Agregar </a:t>
            </a:r>
            <a:r>
              <a:rPr lang="es-MX" dirty="0"/>
              <a:t>una penalización por saltarse de temas muy bruscamente… 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84679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883B-2F45-A1B5-8237-29BD785D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5C111-4079-490C-070A-FA91B74D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Posibles funciones de aprendizaje </a:t>
            </a:r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7EF2E032-E68D-CCC1-CE74-E2B0E298653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67261822"/>
                  </p:ext>
                </p:extLst>
              </p:nvPr>
            </p:nvGraphicFramePr>
            <p:xfrm>
              <a:off x="331762" y="1452916"/>
              <a:ext cx="11528475" cy="5373736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909864910"/>
                        </a:ext>
                      </a:extLst>
                    </a:gridCol>
                    <a:gridCol w="1330124">
                      <a:extLst>
                        <a:ext uri="{9D8B030D-6E8A-4147-A177-3AD203B41FA5}">
                          <a16:colId xmlns:a16="http://schemas.microsoft.com/office/drawing/2014/main" val="4288695574"/>
                        </a:ext>
                      </a:extLst>
                    </a:gridCol>
                    <a:gridCol w="2525485">
                      <a:extLst>
                        <a:ext uri="{9D8B030D-6E8A-4147-A177-3AD203B41FA5}">
                          <a16:colId xmlns:a16="http://schemas.microsoft.com/office/drawing/2014/main" val="1604123577"/>
                        </a:ext>
                      </a:extLst>
                    </a:gridCol>
                    <a:gridCol w="1578904">
                      <a:extLst>
                        <a:ext uri="{9D8B030D-6E8A-4147-A177-3AD203B41FA5}">
                          <a16:colId xmlns:a16="http://schemas.microsoft.com/office/drawing/2014/main" val="3527782093"/>
                        </a:ext>
                      </a:extLst>
                    </a:gridCol>
                    <a:gridCol w="4722362">
                      <a:extLst>
                        <a:ext uri="{9D8B030D-6E8A-4147-A177-3AD203B41FA5}">
                          <a16:colId xmlns:a16="http://schemas.microsoft.com/office/drawing/2014/main" val="951593228"/>
                        </a:ext>
                      </a:extLst>
                    </a:gridCol>
                  </a:tblGrid>
                  <a:tr h="9934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Tipo de función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Expresión $f(t)$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Parámetros (interpretación)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 dirty="0"/>
                            <a:t>Fuente (autor, año)</a:t>
                          </a:r>
                          <a:endParaRPr lang="es-CL" sz="1400" dirty="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Finalidad en contexto educativo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2434215832"/>
                      </a:ext>
                    </a:extLst>
                  </a:tr>
                  <a:tr h="57620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 dirty="0"/>
                            <a:t>Decaimiento exponencial</a:t>
                          </a:r>
                          <a:r>
                            <a:rPr lang="es-MX" sz="1400" dirty="0"/>
                            <a:t> (Curva del olvido de Ebbinghaus)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sz="140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s-CL" sz="1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s-CL" sz="14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L" sz="1400" dirty="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S: fortaleza de la memoria (constante de tiempo que determina la rapidez del olvido; a mayor S, más lenta la pérdida)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/>
                            <a:t>Ebbinghaus (1885), replicado en Murre &amp; Dros 2015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/>
                            <a:t>Modelar la </a:t>
                          </a:r>
                          <a:r>
                            <a:rPr lang="es-MX" sz="1400" b="1"/>
                            <a:t>retención de información</a:t>
                          </a:r>
                          <a:r>
                            <a:rPr lang="es-MX" sz="1400"/>
                            <a:t> aprendida a lo largo del tiempo (olvido sin refuerzo). Ebbinghaus propuso una curva de olvido con </a:t>
                          </a:r>
                          <a:r>
                            <a:rPr lang="es-MX" sz="1400" b="1"/>
                            <a:t>decaimiento exponencial</a:t>
                          </a:r>
                          <a:r>
                            <a:rPr lang="es-MX" sz="1400"/>
                            <a:t> de la memoria, aplicada luego para estimar cuánto contenido retienen los estudiantes tras horas o días sin repaso.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4192219212"/>
                      </a:ext>
                    </a:extLst>
                  </a:tr>
                  <a:tr h="7252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 dirty="0"/>
                            <a:t>Función de potencia</a:t>
                          </a:r>
                          <a:r>
                            <a:rPr lang="es-MX" sz="1400" dirty="0"/>
                            <a:t> (Ley de potencia del olvido/práctica)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fr-FR" sz="1400" i="1" dirty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fr-FR" sz="1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fr-FR" sz="1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sz="1400" i="1" dirty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a: nivel inicial o escala de desempeño (valor de M en t=1);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MX" sz="1400" dirty="0"/>
                            <a:t>b: </a:t>
                          </a:r>
                          <a:r>
                            <a:rPr lang="es-MX" sz="1400" b="1" dirty="0"/>
                            <a:t>exponente negativo</a:t>
                          </a:r>
                          <a:r>
                            <a:rPr lang="es-MX" sz="1400" dirty="0"/>
                            <a:t> que indica la tasa de cambio desacelerada (p.ej., tasa de </a:t>
                          </a:r>
                          <a:r>
                            <a:rPr lang="es-MX" sz="1400" b="1" dirty="0"/>
                            <a:t>olvido</a:t>
                          </a:r>
                          <a:r>
                            <a:rPr lang="es-MX" sz="1400" dirty="0"/>
                            <a:t> en el tiempo logarítmico, típicamente b&lt;0).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/>
                            <a:t>Wixted &amp; Ebbesen (1991); Murre &amp; Chessa (2011) citados en Fisher &amp; Radvansky 2018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/>
                            <a:t>Representar </a:t>
                          </a:r>
                          <a:r>
                            <a:rPr lang="es-MX" sz="1400" b="1"/>
                            <a:t>curvas de aprendizaje/olvido con desaceleración</a:t>
                          </a:r>
                          <a:r>
                            <a:rPr lang="es-MX" sz="1400"/>
                            <a:t>: mucha mejora (o pérdida) al inicio y menor cambio después. Se ha observado que la </a:t>
                          </a:r>
                          <a:r>
                            <a:rPr lang="es-MX" sz="1400" b="1"/>
                            <a:t>curva de retención</a:t>
                          </a:r>
                          <a:r>
                            <a:rPr lang="es-MX" sz="1400"/>
                            <a:t> a largo plazo sigue una potencia negativa (olvido rápido al inicio y más lento posteriormente). Igualmente, en práctica repetitiva la mejora en rendimiento suele ajustarse a una ley de potencia (“</a:t>
                          </a:r>
                          <a:r>
                            <a:rPr lang="es-MX" sz="1400" b="1"/>
                            <a:t>power law</a:t>
                          </a:r>
                          <a:r>
                            <a:rPr lang="es-MX" sz="1400"/>
                            <a:t>”).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322261429"/>
                      </a:ext>
                    </a:extLst>
                  </a:tr>
                  <a:tr h="9040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/>
                            <a:t>Función exponencial (aprendizaje)</a:t>
                          </a:r>
                          <a:r>
                            <a:rPr lang="es-MX" sz="1400"/>
                            <a:t> (Ley exponencial de práctica)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pt-BR" sz="1400" i="1" dirty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pt-BR" sz="140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pt-BR" sz="1400" i="1" dirty="0" smtClean="0"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pt-BR" sz="14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sSup>
                                  <m:sSupPr>
                                    <m:ctrlPr>
                                      <a:rPr lang="pt-B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pt-BR" sz="1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40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400" i="1" dirty="0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  <m:r>
                                          <a:rPr lang="pt-BR" sz="1400" i="1" dirty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c: límite de rendimiento asintótico (p. ej., tiempo mínimo de respuesta o máxima puntuación al que se tiende tras mucho entrenamiento);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MX" sz="1400" dirty="0"/>
                            <a:t>A: </a:t>
                          </a:r>
                          <a:r>
                            <a:rPr lang="es-MX" sz="1400" b="1" dirty="0"/>
                            <a:t>amplitud inicial</a:t>
                          </a:r>
                          <a:r>
                            <a:rPr lang="es-MX" sz="1400" dirty="0"/>
                            <a:t> (diferencia inicial entre el desempeño de partida y el asíntota); 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s-MX" sz="140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s-MX" sz="1400" dirty="0"/>
                            <a:t>: </a:t>
                          </a:r>
                          <a:r>
                            <a:rPr lang="es-MX" sz="1400" b="1" dirty="0"/>
                            <a:t>tasa de aprendizaje</a:t>
                          </a:r>
                          <a:r>
                            <a:rPr lang="es-MX" sz="1400" dirty="0"/>
                            <a:t> (constante de decaimiento exponencial, mayor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s-MX" sz="1400" dirty="0"/>
                            <a:t> implica aprendizaje más rápido).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/>
                            <a:t>Heathcote, Brown &amp; Mewhort (2000)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Modelar </a:t>
                          </a:r>
                          <a:r>
                            <a:rPr lang="es-MX" sz="1400" b="1" dirty="0"/>
                            <a:t>mejoras por práctica</a:t>
                          </a:r>
                          <a:r>
                            <a:rPr lang="es-MX" sz="1400" dirty="0"/>
                            <a:t> en tareas cognitivas o educativas. Esta función exponencial capta que el desempeño (ej. el tiempo de reacción o el error) mejora rápidamente al inicio y se aproxima gradualmente a un límite óptimo con más repeticiones. Heathcote et al. mostraron que los datos individuales de práctica encajan mejor con una </a:t>
                          </a:r>
                          <a:r>
                            <a:rPr lang="es-MX" sz="1400" b="1" dirty="0"/>
                            <a:t>curva exponencial</a:t>
                          </a:r>
                          <a:r>
                            <a:rPr lang="es-MX" sz="1400" dirty="0"/>
                            <a:t> que con una de potencia, indicando mejoras constantes proporcionales a lo que </a:t>
                          </a:r>
                          <a:r>
                            <a:rPr lang="es-MX" sz="1400" b="1" dirty="0"/>
                            <a:t>queda por aprender</a:t>
                          </a:r>
                          <a:r>
                            <a:rPr lang="es-MX" sz="1400" dirty="0"/>
                            <a:t>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19642727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7EF2E032-E68D-CCC1-CE74-E2B0E298653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67261822"/>
                  </p:ext>
                </p:extLst>
              </p:nvPr>
            </p:nvGraphicFramePr>
            <p:xfrm>
              <a:off x="331762" y="1452916"/>
              <a:ext cx="11528475" cy="5373736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909864910"/>
                        </a:ext>
                      </a:extLst>
                    </a:gridCol>
                    <a:gridCol w="1330124">
                      <a:extLst>
                        <a:ext uri="{9D8B030D-6E8A-4147-A177-3AD203B41FA5}">
                          <a16:colId xmlns:a16="http://schemas.microsoft.com/office/drawing/2014/main" val="4288695574"/>
                        </a:ext>
                      </a:extLst>
                    </a:gridCol>
                    <a:gridCol w="2525485">
                      <a:extLst>
                        <a:ext uri="{9D8B030D-6E8A-4147-A177-3AD203B41FA5}">
                          <a16:colId xmlns:a16="http://schemas.microsoft.com/office/drawing/2014/main" val="1604123577"/>
                        </a:ext>
                      </a:extLst>
                    </a:gridCol>
                    <a:gridCol w="1578904">
                      <a:extLst>
                        <a:ext uri="{9D8B030D-6E8A-4147-A177-3AD203B41FA5}">
                          <a16:colId xmlns:a16="http://schemas.microsoft.com/office/drawing/2014/main" val="3527782093"/>
                        </a:ext>
                      </a:extLst>
                    </a:gridCol>
                    <a:gridCol w="4722362">
                      <a:extLst>
                        <a:ext uri="{9D8B030D-6E8A-4147-A177-3AD203B41FA5}">
                          <a16:colId xmlns:a16="http://schemas.microsoft.com/office/drawing/2014/main" val="951593228"/>
                        </a:ext>
                      </a:extLst>
                    </a:gridCol>
                  </a:tblGrid>
                  <a:tr h="2232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Tipo de función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Expresión $f(t)$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Parámetros (interpretación)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 dirty="0"/>
                            <a:t>Fuente (autor, año)</a:t>
                          </a:r>
                          <a:endParaRPr lang="es-CL" sz="1400" dirty="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Finalidad en contexto educativo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2434215832"/>
                      </a:ext>
                    </a:extLst>
                  </a:tr>
                  <a:tr h="107673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 dirty="0"/>
                            <a:t>Decaimiento exponencial</a:t>
                          </a:r>
                          <a:r>
                            <a:rPr lang="es-MX" sz="1400" dirty="0"/>
                            <a:t> (Curva del olvido de Ebbinghaus)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marL="9935" marR="9935" marT="4967" marB="4967" anchor="ctr">
                        <a:blipFill>
                          <a:blip r:embed="rId2"/>
                          <a:stretch>
                            <a:fillRect l="-103211" t="-25568" r="-665138" b="-3897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S: fortaleza de la memoria (constante de tiempo que determina la rapidez del olvido; a mayor S, más lenta la pérdida)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/>
                            <a:t>Ebbinghaus (1885), replicado en Murre &amp; Dros 2015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/>
                            <a:t>Modelar la </a:t>
                          </a:r>
                          <a:r>
                            <a:rPr lang="es-MX" sz="1400" b="1"/>
                            <a:t>retención de información</a:t>
                          </a:r>
                          <a:r>
                            <a:rPr lang="es-MX" sz="1400"/>
                            <a:t> aprendida a lo largo del tiempo (olvido sin refuerzo). Ebbinghaus propuso una curva de olvido con </a:t>
                          </a:r>
                          <a:r>
                            <a:rPr lang="es-MX" sz="1400" b="1"/>
                            <a:t>decaimiento exponencial</a:t>
                          </a:r>
                          <a:r>
                            <a:rPr lang="es-MX" sz="1400"/>
                            <a:t> de la memoria, aplicada luego para estimar cuánto contenido retienen los estudiantes tras horas o días sin repaso.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4192219212"/>
                      </a:ext>
                    </a:extLst>
                  </a:tr>
                  <a:tr h="150345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 dirty="0"/>
                            <a:t>Función de potencia</a:t>
                          </a:r>
                          <a:r>
                            <a:rPr lang="es-MX" sz="1400" dirty="0"/>
                            <a:t> (Ley de potencia del olvido/práctica)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marL="9935" marR="9935" marT="4967" marB="4967" anchor="ctr">
                        <a:blipFill>
                          <a:blip r:embed="rId2"/>
                          <a:stretch>
                            <a:fillRect l="-103211" t="-89474" r="-665138" b="-1777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a: nivel inicial o escala de desempeño (valor de M en t=1);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MX" sz="1400" dirty="0"/>
                            <a:t>b: </a:t>
                          </a:r>
                          <a:r>
                            <a:rPr lang="es-MX" sz="1400" b="1" dirty="0"/>
                            <a:t>exponente negativo</a:t>
                          </a:r>
                          <a:r>
                            <a:rPr lang="es-MX" sz="1400" dirty="0"/>
                            <a:t> que indica la tasa de cambio desacelerada (p.ej., tasa de </a:t>
                          </a:r>
                          <a:r>
                            <a:rPr lang="es-MX" sz="1400" b="1" dirty="0"/>
                            <a:t>olvido</a:t>
                          </a:r>
                          <a:r>
                            <a:rPr lang="es-MX" sz="1400" dirty="0"/>
                            <a:t> en el tiempo logarítmico, típicamente b&lt;0).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/>
                            <a:t>Wixted &amp; Ebbesen (1991); Murre &amp; Chessa (2011) citados en Fisher &amp; Radvansky 2018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/>
                            <a:t>Representar </a:t>
                          </a:r>
                          <a:r>
                            <a:rPr lang="es-MX" sz="1400" b="1"/>
                            <a:t>curvas de aprendizaje/olvido con desaceleración</a:t>
                          </a:r>
                          <a:r>
                            <a:rPr lang="es-MX" sz="1400"/>
                            <a:t>: mucha mejora (o pérdida) al inicio y menor cambio después. Se ha observado que la </a:t>
                          </a:r>
                          <a:r>
                            <a:rPr lang="es-MX" sz="1400" b="1"/>
                            <a:t>curva de retención</a:t>
                          </a:r>
                          <a:r>
                            <a:rPr lang="es-MX" sz="1400"/>
                            <a:t> a largo plazo sigue una potencia negativa (olvido rápido al inicio y más lento posteriormente). Igualmente, en práctica repetitiva la mejora en rendimiento suele ajustarse a una ley de potencia (“</a:t>
                          </a:r>
                          <a:r>
                            <a:rPr lang="es-MX" sz="1400" b="1"/>
                            <a:t>power law</a:t>
                          </a:r>
                          <a:r>
                            <a:rPr lang="es-MX" sz="1400"/>
                            <a:t>”).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322261429"/>
                      </a:ext>
                    </a:extLst>
                  </a:tr>
                  <a:tr h="257025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/>
                            <a:t>Función exponencial (aprendizaje)</a:t>
                          </a:r>
                          <a:r>
                            <a:rPr lang="es-MX" sz="1400"/>
                            <a:t> (Ley exponencial de práctica)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marL="9935" marR="9935" marT="4967" marB="4967" anchor="ctr">
                        <a:blipFill>
                          <a:blip r:embed="rId2"/>
                          <a:stretch>
                            <a:fillRect l="-103211" t="-110900" r="-665138" b="-40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marL="9935" marR="9935" marT="4967" marB="4967" anchor="ctr">
                        <a:blipFill>
                          <a:blip r:embed="rId2"/>
                          <a:stretch>
                            <a:fillRect l="-106747" t="-110900" r="-249398" b="-40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/>
                            <a:t>Heathcote, Brown &amp; Mewhort (2000)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Modelar </a:t>
                          </a:r>
                          <a:r>
                            <a:rPr lang="es-MX" sz="1400" b="1" dirty="0"/>
                            <a:t>mejoras por práctica</a:t>
                          </a:r>
                          <a:r>
                            <a:rPr lang="es-MX" sz="1400" dirty="0"/>
                            <a:t> en tareas cognitivas o educativas. Esta función exponencial capta que el desempeño (ej. el tiempo de reacción o el error) mejora rápidamente al inicio y se aproxima gradualmente a un límite óptimo con más repeticiones. Heathcote et al. mostraron que los datos individuales de práctica encajan mejor con una </a:t>
                          </a:r>
                          <a:r>
                            <a:rPr lang="es-MX" sz="1400" b="1" dirty="0"/>
                            <a:t>curva exponencial</a:t>
                          </a:r>
                          <a:r>
                            <a:rPr lang="es-MX" sz="1400" dirty="0"/>
                            <a:t> que con una de potencia, indicando mejoras constantes proporcionales a lo que </a:t>
                          </a:r>
                          <a:r>
                            <a:rPr lang="es-MX" sz="1400" b="1" dirty="0"/>
                            <a:t>queda por aprender</a:t>
                          </a:r>
                          <a:r>
                            <a:rPr lang="es-MX" sz="1400" dirty="0"/>
                            <a:t>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19642727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9904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489D-78A5-0BEC-4BB2-65A2B6E2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90902-FCE7-4104-DA44-EC51C19B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Posibles funciones de aprendizaje </a:t>
            </a:r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87CEFDCB-EBF1-A547-0B18-B731CC19E55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43358272"/>
                  </p:ext>
                </p:extLst>
              </p:nvPr>
            </p:nvGraphicFramePr>
            <p:xfrm>
              <a:off x="331762" y="1452916"/>
              <a:ext cx="11528475" cy="5150442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909864910"/>
                        </a:ext>
                      </a:extLst>
                    </a:gridCol>
                    <a:gridCol w="1330124">
                      <a:extLst>
                        <a:ext uri="{9D8B030D-6E8A-4147-A177-3AD203B41FA5}">
                          <a16:colId xmlns:a16="http://schemas.microsoft.com/office/drawing/2014/main" val="4288695574"/>
                        </a:ext>
                      </a:extLst>
                    </a:gridCol>
                    <a:gridCol w="2525485">
                      <a:extLst>
                        <a:ext uri="{9D8B030D-6E8A-4147-A177-3AD203B41FA5}">
                          <a16:colId xmlns:a16="http://schemas.microsoft.com/office/drawing/2014/main" val="1604123577"/>
                        </a:ext>
                      </a:extLst>
                    </a:gridCol>
                    <a:gridCol w="1578904">
                      <a:extLst>
                        <a:ext uri="{9D8B030D-6E8A-4147-A177-3AD203B41FA5}">
                          <a16:colId xmlns:a16="http://schemas.microsoft.com/office/drawing/2014/main" val="3527782093"/>
                        </a:ext>
                      </a:extLst>
                    </a:gridCol>
                    <a:gridCol w="4722362">
                      <a:extLst>
                        <a:ext uri="{9D8B030D-6E8A-4147-A177-3AD203B41FA5}">
                          <a16:colId xmlns:a16="http://schemas.microsoft.com/office/drawing/2014/main" val="951593228"/>
                        </a:ext>
                      </a:extLst>
                    </a:gridCol>
                  </a:tblGrid>
                  <a:tr h="9934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Tipo de función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Expresión $f(t)$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Parámetros (interpretación)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 dirty="0"/>
                            <a:t>Fuente (autor, año)</a:t>
                          </a:r>
                          <a:endParaRPr lang="es-CL" sz="1400" dirty="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Finalidad en contexto educativo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2434215832"/>
                      </a:ext>
                    </a:extLst>
                  </a:tr>
                  <a:tr h="10530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/>
                            <a:t>Función logística (sigmoide)</a:t>
                          </a:r>
                          <a:r>
                            <a:rPr lang="es-MX" sz="1400"/>
                            <a:t> (Curva de aprendizaje saturada)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sz="140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s-CL" sz="1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CL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sz="1400" i="1" dirty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s-CL" sz="1400" i="1" dirty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s-CL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CL" sz="1400" i="1" dirty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s-CL" sz="14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L" sz="1400" i="1" dirty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d>
                                          <m:dPr>
                                            <m:ctrlPr>
                                              <a:rPr lang="es-CL" sz="14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CL" sz="1400" i="1" dirty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s-CL" sz="1400" i="1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CL" sz="14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CL" sz="14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CL" sz="14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L: capacidad máxima o asíntota superior (valor máximo de desempeño o conocimiento alcanzable a largo plazo);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MX" sz="1400" dirty="0"/>
                            <a:t>k: </a:t>
                          </a:r>
                          <a:r>
                            <a:rPr lang="es-MX" sz="1400" b="1" dirty="0"/>
                            <a:t>tasa de crecimiento</a:t>
                          </a:r>
                          <a:r>
                            <a:rPr lang="es-MX" sz="1400" dirty="0"/>
                            <a:t> logístico (pendiente en el punto medio, indica qué tan rápido se aprende);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40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sz="1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s-MX" sz="1400" dirty="0"/>
                            <a:t>: </a:t>
                          </a:r>
                          <a:r>
                            <a:rPr lang="es-MX" sz="1400" b="1" dirty="0"/>
                            <a:t>tiempo de inflexión</a:t>
                          </a:r>
                          <a:r>
                            <a:rPr lang="es-MX" sz="1400" dirty="0"/>
                            <a:t> (punto medio de la curva, donde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s-MX" sz="14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MX" sz="14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MX" sz="1400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s-MX" sz="140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s-MX" sz="1400" i="1" dirty="0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s-MX" sz="1400" dirty="0"/>
                            <a:t>, indica el momento aproximado en que el aprendizaje llega a la mitad de L).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Zhang &amp; Hirasawa (2010) (Int. J. Cont. Eng. Educ.)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Representar </a:t>
                          </a:r>
                          <a:r>
                            <a:rPr lang="es-MX" sz="1400" b="1" dirty="0"/>
                            <a:t>curvas de aprendizaje con saturación</a:t>
                          </a:r>
                          <a:r>
                            <a:rPr lang="es-MX" sz="1400" dirty="0"/>
                            <a:t> (forma en “S”). Inicia con progreso lento, luego fase de aprendizaje acelerado, y finalmente se acerca a una meseta (dominio de la materia). Se ha aplicado para describir el </a:t>
                          </a:r>
                          <a:r>
                            <a:rPr lang="es-MX" sz="1400" b="1" dirty="0"/>
                            <a:t>rendimiento académico acumulado</a:t>
                          </a:r>
                          <a:r>
                            <a:rPr lang="es-MX" sz="1400" dirty="0"/>
                            <a:t> o la </a:t>
                          </a:r>
                          <a:r>
                            <a:rPr lang="es-MX" sz="1400" b="1" dirty="0"/>
                            <a:t>adquisición de habilidad</a:t>
                          </a:r>
                          <a:r>
                            <a:rPr lang="es-MX" sz="1400" dirty="0"/>
                            <a:t> a lo largo de un curso, donde el desempeño de los estudiantes tiende a estabilizarse cerca de un máximo. El modelo logístico permite estimar el punto temporal donde el alumno alcanza ~50% de la maestría esperada, así como el máximo potencial de aprendizaje.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2078440019"/>
                      </a:ext>
                    </a:extLst>
                  </a:tr>
                  <a:tr h="99345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/>
                            <a:t>Declive lineal de la atención</a:t>
                          </a:r>
                          <a:r>
                            <a:rPr lang="es-MX" sz="1400"/>
                            <a:t> (aproximación simple)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fr-FR" sz="1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fr-FR" sz="14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140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1400" i="1" dirty="0" err="1">
                                    <a:latin typeface="Cambria Math" panose="02040503050406030204" pitchFamily="18" charset="0"/>
                                  </a:rPr>
                                  <m:t>𝑚𝑡</m:t>
                                </m:r>
                              </m:oMath>
                            </m:oMathPara>
                          </a14:m>
                          <a:endParaRPr lang="fr-FR" sz="1400" dirty="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40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CL" sz="1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s-MX" sz="1400" dirty="0"/>
                            <a:t>: nivel inicial de </a:t>
                          </a:r>
                          <a:r>
                            <a:rPr lang="es-MX" sz="1400" b="1" dirty="0"/>
                            <a:t>atención</a:t>
                          </a:r>
                          <a:r>
                            <a:rPr lang="es-MX" sz="1400" dirty="0"/>
                            <a:t> o desempeño al comienzo de la sesión;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MX" sz="1400" dirty="0"/>
                            <a:t>m: pendiente de </a:t>
                          </a:r>
                          <a:r>
                            <a:rPr lang="es-MX" sz="1400" b="1" dirty="0"/>
                            <a:t>declive lineal</a:t>
                          </a:r>
                          <a:r>
                            <a:rPr lang="es-MX" sz="1400" dirty="0"/>
                            <a:t> (reducción de la atención por unidad de tiempo, asumida constante en el intervalo considerado).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fr-FR" sz="1400"/>
                            <a:t>Farley et al. (2013) (Front. Psychology)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Aproximar la </a:t>
                          </a:r>
                          <a:r>
                            <a:rPr lang="es-MX" sz="1400" b="1" dirty="0"/>
                            <a:t>pérdida de atención durante una clase o video</a:t>
                          </a:r>
                          <a:r>
                            <a:rPr lang="es-MX" sz="1400" dirty="0"/>
                            <a:t> con el tiempo. Estudios con clases grabadas muestran que la </a:t>
                          </a:r>
                          <a:r>
                            <a:rPr lang="es-MX" sz="1400" b="1" dirty="0"/>
                            <a:t>atención reportada declina aproximadamente de forma constante</a:t>
                          </a:r>
                          <a:r>
                            <a:rPr lang="es-MX" sz="1400" dirty="0"/>
                            <a:t> a lo largo de una lección de unos 40 minutos. </a:t>
                          </a:r>
                          <a:r>
                            <a:rPr lang="es-MX" sz="1400" dirty="0" err="1"/>
                            <a:t>Farley</a:t>
                          </a:r>
                          <a:r>
                            <a:rPr lang="es-MX" sz="1400" dirty="0"/>
                            <a:t> et al. observaron que la autoevaluación de atención de estudiantes </a:t>
                          </a:r>
                          <a:r>
                            <a:rPr lang="es-MX" sz="1400" b="1" dirty="0"/>
                            <a:t>disminuye con el tiempo en tarea</a:t>
                          </a:r>
                          <a:r>
                            <a:rPr lang="es-MX" sz="1400" dirty="0"/>
                            <a:t> (mientras aumenta la inquietud), lo cual puede modelarse primeramente con una tendencia lineal descendente en contextos educativos de duración moderada.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3146596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87CEFDCB-EBF1-A547-0B18-B731CC19E55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43358272"/>
                  </p:ext>
                </p:extLst>
              </p:nvPr>
            </p:nvGraphicFramePr>
            <p:xfrm>
              <a:off x="331762" y="1452916"/>
              <a:ext cx="11528475" cy="5150442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909864910"/>
                        </a:ext>
                      </a:extLst>
                    </a:gridCol>
                    <a:gridCol w="1330124">
                      <a:extLst>
                        <a:ext uri="{9D8B030D-6E8A-4147-A177-3AD203B41FA5}">
                          <a16:colId xmlns:a16="http://schemas.microsoft.com/office/drawing/2014/main" val="4288695574"/>
                        </a:ext>
                      </a:extLst>
                    </a:gridCol>
                    <a:gridCol w="2525485">
                      <a:extLst>
                        <a:ext uri="{9D8B030D-6E8A-4147-A177-3AD203B41FA5}">
                          <a16:colId xmlns:a16="http://schemas.microsoft.com/office/drawing/2014/main" val="1604123577"/>
                        </a:ext>
                      </a:extLst>
                    </a:gridCol>
                    <a:gridCol w="1578904">
                      <a:extLst>
                        <a:ext uri="{9D8B030D-6E8A-4147-A177-3AD203B41FA5}">
                          <a16:colId xmlns:a16="http://schemas.microsoft.com/office/drawing/2014/main" val="3527782093"/>
                        </a:ext>
                      </a:extLst>
                    </a:gridCol>
                    <a:gridCol w="4722362">
                      <a:extLst>
                        <a:ext uri="{9D8B030D-6E8A-4147-A177-3AD203B41FA5}">
                          <a16:colId xmlns:a16="http://schemas.microsoft.com/office/drawing/2014/main" val="951593228"/>
                        </a:ext>
                      </a:extLst>
                    </a:gridCol>
                  </a:tblGrid>
                  <a:tr h="2232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Tipo de función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Expresión $f(t)$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Parámetros (interpretación)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 dirty="0"/>
                            <a:t>Fuente (autor, año)</a:t>
                          </a:r>
                          <a:endParaRPr lang="es-CL" sz="1400" dirty="0"/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CL" sz="1400" b="1"/>
                            <a:t>Finalidad en contexto educativo</a:t>
                          </a:r>
                          <a:endParaRPr lang="es-CL" sz="1400"/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2434215832"/>
                      </a:ext>
                    </a:extLst>
                  </a:tr>
                  <a:tr h="299697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/>
                            <a:t>Función logística (sigmoide)</a:t>
                          </a:r>
                          <a:r>
                            <a:rPr lang="es-MX" sz="1400"/>
                            <a:t> (Curva de aprendizaje saturada)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marL="9935" marR="9935" marT="4967" marB="4967" anchor="ctr">
                        <a:blipFill>
                          <a:blip r:embed="rId2"/>
                          <a:stretch>
                            <a:fillRect l="-103211" t="-9146" r="-665138" b="-67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marL="9935" marR="9935" marT="4967" marB="4967" anchor="ctr">
                        <a:blipFill>
                          <a:blip r:embed="rId2"/>
                          <a:stretch>
                            <a:fillRect l="-106747" t="-9146" r="-249398" b="-67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Zhang &amp; Hirasawa (2010) (Int. J. Cont. Eng. Educ.)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Representar </a:t>
                          </a:r>
                          <a:r>
                            <a:rPr lang="es-MX" sz="1400" b="1" dirty="0"/>
                            <a:t>curvas de aprendizaje con saturación</a:t>
                          </a:r>
                          <a:r>
                            <a:rPr lang="es-MX" sz="1400" dirty="0"/>
                            <a:t> (forma en “S”). Inicia con progreso lento, luego fase de aprendizaje acelerado, y finalmente se acerca a una meseta (dominio de la materia). Se ha aplicado para describir el </a:t>
                          </a:r>
                          <a:r>
                            <a:rPr lang="es-MX" sz="1400" b="1" dirty="0"/>
                            <a:t>rendimiento académico acumulado</a:t>
                          </a:r>
                          <a:r>
                            <a:rPr lang="es-MX" sz="1400" dirty="0"/>
                            <a:t> o la </a:t>
                          </a:r>
                          <a:r>
                            <a:rPr lang="es-MX" sz="1400" b="1" dirty="0"/>
                            <a:t>adquisición de habilidad</a:t>
                          </a:r>
                          <a:r>
                            <a:rPr lang="es-MX" sz="1400" dirty="0"/>
                            <a:t> a lo largo de un curso, donde el desempeño de los estudiantes tiende a estabilizarse cerca de un máximo. El modelo logístico permite estimar el punto temporal donde el alumno alcanza ~50% de la maestría esperada, así como el máximo potencial de aprendizaje.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2078440019"/>
                      </a:ext>
                    </a:extLst>
                  </a:tr>
                  <a:tr h="193017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b="1"/>
                            <a:t>Declive lineal de la atención</a:t>
                          </a:r>
                          <a:r>
                            <a:rPr lang="es-MX" sz="1400"/>
                            <a:t> (aproximación simple)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marL="9935" marR="9935" marT="4967" marB="4967" anchor="ctr">
                        <a:blipFill>
                          <a:blip r:embed="rId2"/>
                          <a:stretch>
                            <a:fillRect l="-103211" t="-169401" r="-665138" b="-5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marL="9935" marR="9935" marT="4967" marB="4967" anchor="ctr">
                        <a:blipFill>
                          <a:blip r:embed="rId2"/>
                          <a:stretch>
                            <a:fillRect l="-106747" t="-169401" r="-249398" b="-5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fr-FR" sz="1400"/>
                            <a:t>Farley et al. (2013) (Front. Psychology)</a:t>
                          </a:r>
                        </a:p>
                      </a:txBody>
                      <a:tcPr marL="9935" marR="9935" marT="4967" marB="4967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MX" sz="1400" dirty="0"/>
                            <a:t>Aproximar la </a:t>
                          </a:r>
                          <a:r>
                            <a:rPr lang="es-MX" sz="1400" b="1" dirty="0"/>
                            <a:t>pérdida de atención durante una clase o video</a:t>
                          </a:r>
                          <a:r>
                            <a:rPr lang="es-MX" sz="1400" dirty="0"/>
                            <a:t> con el tiempo. Estudios con clases grabadas muestran que la </a:t>
                          </a:r>
                          <a:r>
                            <a:rPr lang="es-MX" sz="1400" b="1" dirty="0"/>
                            <a:t>atención reportada declina aproximadamente de forma constante</a:t>
                          </a:r>
                          <a:r>
                            <a:rPr lang="es-MX" sz="1400" dirty="0"/>
                            <a:t> a lo largo de una lección de unos 40 minutos. </a:t>
                          </a:r>
                          <a:r>
                            <a:rPr lang="es-MX" sz="1400" dirty="0" err="1"/>
                            <a:t>Farley</a:t>
                          </a:r>
                          <a:r>
                            <a:rPr lang="es-MX" sz="1400" dirty="0"/>
                            <a:t> et al. observaron que la autoevaluación de atención de estudiantes </a:t>
                          </a:r>
                          <a:r>
                            <a:rPr lang="es-MX" sz="1400" b="1" dirty="0"/>
                            <a:t>disminuye con el tiempo en tarea</a:t>
                          </a:r>
                          <a:r>
                            <a:rPr lang="es-MX" sz="1400" dirty="0"/>
                            <a:t> (mientras aumenta la inquietud), lo cual puede modelarse primeramente con una tendencia lineal descendente en contextos educativos de duración moderada.</a:t>
                          </a:r>
                        </a:p>
                      </a:txBody>
                      <a:tcPr marL="9935" marR="9935" marT="4967" marB="4967" anchor="ctr"/>
                    </a:tc>
                    <a:extLst>
                      <a:ext uri="{0D108BD9-81ED-4DB2-BD59-A6C34878D82A}">
                        <a16:rowId xmlns:a16="http://schemas.microsoft.com/office/drawing/2014/main" val="31465965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2077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6" descr="Imagen de salida">
            <a:extLst>
              <a:ext uri="{FF2B5EF4-FFF2-40B4-BE49-F238E27FC236}">
                <a16:creationId xmlns:a16="http://schemas.microsoft.com/office/drawing/2014/main" id="{67C4C6D3-CA99-06C5-F1ED-BB04454C6B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5038" y="0"/>
            <a:ext cx="10321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A908AF3-9573-E79F-79F8-8AC58FDE5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653385"/>
            <a:ext cx="9043433" cy="600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288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15BEA-F7AE-8374-FF99-3ABD8118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22CBEF-8A28-F494-21AD-13211EBF4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Se cambió la duración de los contenidos (estimado como 200 palabras leídas por min)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F90E13-E2CB-01C4-F072-4C5BC528A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563" y="2409132"/>
            <a:ext cx="4694993" cy="410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54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1389B-E6CD-64F1-27CA-1CED0CC0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4BF04C-C57B-9CB7-2C31-51A2F174B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Se mantuvo el tiempo anterior</a:t>
            </a:r>
          </a:p>
          <a:p>
            <a:r>
              <a:rPr lang="es-CL" dirty="0"/>
              <a:t>Se cambió el peso relativo </a:t>
            </a:r>
            <a:r>
              <a:rPr lang="es-CL" dirty="0" err="1"/>
              <a:t>w_j</a:t>
            </a:r>
            <a:r>
              <a:rPr lang="es-CL" dirty="0"/>
              <a:t> de cada concepto </a:t>
            </a:r>
          </a:p>
          <a:p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E91C9D-194B-94A1-53AF-887483062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18850"/>
            <a:ext cx="4130987" cy="367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5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98F39-10BD-2D9C-6CD7-D04EAE78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B2C25-6B6D-B396-AB7D-AA918FCD0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049751-BAB0-A3EC-6D17-6AFD48F4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1" y="572419"/>
            <a:ext cx="4173593" cy="30194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03CE5B4-DE6D-E634-90A4-5BF85AB43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80" y="2995579"/>
            <a:ext cx="3862896" cy="337356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3D6AA63-3CA2-62A1-A79D-98D8FEB74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141" y="2679056"/>
            <a:ext cx="385197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19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1131</Words>
  <Application>Microsoft Office PowerPoint</Application>
  <PresentationFormat>Panorámica</PresentationFormat>
  <Paragraphs>88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Tema de Office</vt:lpstr>
      <vt:lpstr>Modelo: Secuencia óptima de aprendizaje para pensiones </vt:lpstr>
      <vt:lpstr>Parámetros</vt:lpstr>
      <vt:lpstr>Beneficio: w ̂_jt</vt:lpstr>
      <vt:lpstr>Modelo</vt:lpstr>
      <vt:lpstr>Implementación</vt:lpstr>
      <vt:lpstr>Implementación</vt:lpstr>
      <vt:lpstr>Resultados previos (con 36 conceptos)</vt:lpstr>
      <vt:lpstr>Por hacer</vt:lpstr>
      <vt:lpstr>Posibles funciones de aprendizaje </vt:lpstr>
      <vt:lpstr>Posibles funciones de aprendizaje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Utreras</dc:creator>
  <cp:lastModifiedBy>Camila Utreras</cp:lastModifiedBy>
  <cp:revision>2</cp:revision>
  <dcterms:created xsi:type="dcterms:W3CDTF">2026-03-08T18:27:55Z</dcterms:created>
  <dcterms:modified xsi:type="dcterms:W3CDTF">2026-03-09T19:43:47Z</dcterms:modified>
</cp:coreProperties>
</file>