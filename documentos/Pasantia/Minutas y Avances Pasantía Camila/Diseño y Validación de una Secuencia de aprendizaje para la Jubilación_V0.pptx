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58" r:id="rId4"/>
    <p:sldId id="260" r:id="rId5"/>
    <p:sldId id="263" r:id="rId6"/>
    <p:sldId id="267" r:id="rId7"/>
    <p:sldId id="268" r:id="rId8"/>
    <p:sldId id="269" r:id="rId9"/>
    <p:sldId id="270" r:id="rId10"/>
    <p:sldId id="264" r:id="rId11"/>
    <p:sldId id="266" r:id="rId12"/>
    <p:sldId id="265" r:id="rId1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2FA130-CC7A-418E-8971-0FB06BC694E5}" v="29" dt="2026-02-14T17:49:06.8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39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a Utreras" userId="21a7d57e8591b932" providerId="LiveId" clId="{3D47D72A-6394-46F0-88AF-A9E836802BAF}"/>
    <pc:docChg chg="undo custSel addSld delSld modSld sldOrd">
      <pc:chgData name="Camila Utreras" userId="21a7d57e8591b932" providerId="LiveId" clId="{3D47D72A-6394-46F0-88AF-A9E836802BAF}" dt="2026-02-18T21:21:53.322" v="6793" actId="680"/>
      <pc:docMkLst>
        <pc:docMk/>
      </pc:docMkLst>
      <pc:sldChg chg="add ord setBg">
        <pc:chgData name="Camila Utreras" userId="21a7d57e8591b932" providerId="LiveId" clId="{3D47D72A-6394-46F0-88AF-A9E836802BAF}" dt="2026-02-04T21:44:35.892" v="416"/>
        <pc:sldMkLst>
          <pc:docMk/>
          <pc:sldMk cId="4180315721" sldId="258"/>
        </pc:sldMkLst>
      </pc:sldChg>
      <pc:sldChg chg="delSp modSp add mod setBg">
        <pc:chgData name="Camila Utreras" userId="21a7d57e8591b932" providerId="LiveId" clId="{3D47D72A-6394-46F0-88AF-A9E836802BAF}" dt="2026-02-04T21:09:26.091" v="311" actId="1035"/>
        <pc:sldMkLst>
          <pc:docMk/>
          <pc:sldMk cId="0" sldId="259"/>
        </pc:sldMkLst>
        <pc:spChg chg="mod">
          <ac:chgData name="Camila Utreras" userId="21a7d57e8591b932" providerId="LiveId" clId="{3D47D72A-6394-46F0-88AF-A9E836802BAF}" dt="2026-02-04T21:00:04.945" v="176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Camila Utreras" userId="21a7d57e8591b932" providerId="LiveId" clId="{3D47D72A-6394-46F0-88AF-A9E836802BAF}" dt="2026-02-04T20:58:51.373" v="159" actId="10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Camila Utreras" userId="21a7d57e8591b932" providerId="LiveId" clId="{3D47D72A-6394-46F0-88AF-A9E836802BAF}" dt="2026-02-04T21:08:40.501" v="295" actId="1035"/>
          <ac:spMkLst>
            <pc:docMk/>
            <pc:sldMk cId="0" sldId="259"/>
            <ac:spMk id="7" creationId="{00000000-0000-0000-0000-000000000000}"/>
          </ac:spMkLst>
        </pc:spChg>
        <pc:spChg chg="mod">
          <ac:chgData name="Camila Utreras" userId="21a7d57e8591b932" providerId="LiveId" clId="{3D47D72A-6394-46F0-88AF-A9E836802BAF}" dt="2026-02-04T20:59:13.446" v="161" actId="14100"/>
          <ac:spMkLst>
            <pc:docMk/>
            <pc:sldMk cId="0" sldId="259"/>
            <ac:spMk id="8" creationId="{00000000-0000-0000-0000-000000000000}"/>
          </ac:spMkLst>
        </pc:spChg>
        <pc:spChg chg="mod">
          <ac:chgData name="Camila Utreras" userId="21a7d57e8591b932" providerId="LiveId" clId="{3D47D72A-6394-46F0-88AF-A9E836802BAF}" dt="2026-02-04T21:00:17.728" v="189" actId="1035"/>
          <ac:spMkLst>
            <pc:docMk/>
            <pc:sldMk cId="0" sldId="259"/>
            <ac:spMk id="10" creationId="{00000000-0000-0000-0000-000000000000}"/>
          </ac:spMkLst>
        </pc:spChg>
        <pc:spChg chg="mod">
          <ac:chgData name="Camila Utreras" userId="21a7d57e8591b932" providerId="LiveId" clId="{3D47D72A-6394-46F0-88AF-A9E836802BAF}" dt="2026-02-04T21:09:20.529" v="304" actId="103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Camila Utreras" userId="21a7d57e8591b932" providerId="LiveId" clId="{3D47D72A-6394-46F0-88AF-A9E836802BAF}" dt="2026-02-04T20:59:28.600" v="163" actId="1410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Camila Utreras" userId="21a7d57e8591b932" providerId="LiveId" clId="{3D47D72A-6394-46F0-88AF-A9E836802BAF}" dt="2026-02-04T20:59:57.628" v="175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Camila Utreras" userId="21a7d57e8591b932" providerId="LiveId" clId="{3D47D72A-6394-46F0-88AF-A9E836802BAF}" dt="2026-02-04T21:09:26.091" v="311" actId="103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Camila Utreras" userId="21a7d57e8591b932" providerId="LiveId" clId="{3D47D72A-6394-46F0-88AF-A9E836802BAF}" dt="2026-02-04T21:07:40.111" v="206" actId="14100"/>
          <ac:spMkLst>
            <pc:docMk/>
            <pc:sldMk cId="0" sldId="259"/>
            <ac:spMk id="18" creationId="{00000000-0000-0000-0000-000000000000}"/>
          </ac:spMkLst>
        </pc:spChg>
        <pc:spChg chg="mod">
          <ac:chgData name="Camila Utreras" userId="21a7d57e8591b932" providerId="LiveId" clId="{3D47D72A-6394-46F0-88AF-A9E836802BAF}" dt="2026-02-04T21:07:45.786" v="212" actId="1036"/>
          <ac:spMkLst>
            <pc:docMk/>
            <pc:sldMk cId="0" sldId="259"/>
            <ac:spMk id="19" creationId="{00000000-0000-0000-0000-000000000000}"/>
          </ac:spMkLst>
        </pc:spChg>
      </pc:sldChg>
      <pc:sldChg chg="addSp modSp new mod">
        <pc:chgData name="Camila Utreras" userId="21a7d57e8591b932" providerId="LiveId" clId="{3D47D72A-6394-46F0-88AF-A9E836802BAF}" dt="2026-02-04T21:53:16.149" v="438" actId="20577"/>
        <pc:sldMkLst>
          <pc:docMk/>
          <pc:sldMk cId="4041930088" sldId="260"/>
        </pc:sldMkLst>
        <pc:graphicFrameChg chg="add mod modGraphic">
          <ac:chgData name="Camila Utreras" userId="21a7d57e8591b932" providerId="LiveId" clId="{3D47D72A-6394-46F0-88AF-A9E836802BAF}" dt="2026-02-04T21:53:16.149" v="438" actId="20577"/>
          <ac:graphicFrameMkLst>
            <pc:docMk/>
            <pc:sldMk cId="4041930088" sldId="260"/>
            <ac:graphicFrameMk id="2" creationId="{E7099BEA-8C64-4D74-7BE7-8FFA1AE4F4A9}"/>
          </ac:graphicFrameMkLst>
        </pc:graphicFrameChg>
      </pc:sldChg>
      <pc:sldChg chg="addSp modSp new add del mod ord modClrScheme chgLayout">
        <pc:chgData name="Camila Utreras" userId="21a7d57e8591b932" providerId="LiveId" clId="{3D47D72A-6394-46F0-88AF-A9E836802BAF}" dt="2026-02-18T21:21:37.164" v="6788" actId="47"/>
        <pc:sldMkLst>
          <pc:docMk/>
          <pc:sldMk cId="1724645344" sldId="261"/>
        </pc:sldMkLst>
      </pc:sldChg>
      <pc:sldChg chg="addSp delSp modSp new mod modClrScheme chgLayout">
        <pc:chgData name="Camila Utreras" userId="21a7d57e8591b932" providerId="LiveId" clId="{3D47D72A-6394-46F0-88AF-A9E836802BAF}" dt="2026-02-16T00:32:33.261" v="2581" actId="20577"/>
        <pc:sldMkLst>
          <pc:docMk/>
          <pc:sldMk cId="83443177" sldId="263"/>
        </pc:sldMkLst>
        <pc:spChg chg="add mod ord">
          <ac:chgData name="Camila Utreras" userId="21a7d57e8591b932" providerId="LiveId" clId="{3D47D72A-6394-46F0-88AF-A9E836802BAF}" dt="2026-02-14T17:59:31.625" v="2245" actId="700"/>
          <ac:spMkLst>
            <pc:docMk/>
            <pc:sldMk cId="83443177" sldId="263"/>
            <ac:spMk id="4" creationId="{F05A94F0-3FF5-20AF-605A-13FE6892E42E}"/>
          </ac:spMkLst>
        </pc:spChg>
        <pc:spChg chg="add mod ord">
          <ac:chgData name="Camila Utreras" userId="21a7d57e8591b932" providerId="LiveId" clId="{3D47D72A-6394-46F0-88AF-A9E836802BAF}" dt="2026-02-16T00:32:33.261" v="2581" actId="20577"/>
          <ac:spMkLst>
            <pc:docMk/>
            <pc:sldMk cId="83443177" sldId="263"/>
            <ac:spMk id="6" creationId="{DF06E49F-4FB3-A51C-B16F-E5A42A9D9D10}"/>
          </ac:spMkLst>
        </pc:spChg>
        <pc:picChg chg="add mod modCrop">
          <ac:chgData name="Camila Utreras" userId="21a7d57e8591b932" providerId="LiveId" clId="{3D47D72A-6394-46F0-88AF-A9E836802BAF}" dt="2026-02-14T18:58:39.408" v="2396" actId="1076"/>
          <ac:picMkLst>
            <pc:docMk/>
            <pc:sldMk cId="83443177" sldId="263"/>
            <ac:picMk id="8" creationId="{4C051473-D7A1-BCA6-CA8E-222757A27D13}"/>
          </ac:picMkLst>
        </pc:picChg>
      </pc:sldChg>
      <pc:sldChg chg="modSp new mod">
        <pc:chgData name="Camila Utreras" userId="21a7d57e8591b932" providerId="LiveId" clId="{3D47D72A-6394-46F0-88AF-A9E836802BAF}" dt="2026-02-16T01:01:47.382" v="5990" actId="27636"/>
        <pc:sldMkLst>
          <pc:docMk/>
          <pc:sldMk cId="1135466107" sldId="264"/>
        </pc:sldMkLst>
        <pc:spChg chg="mod">
          <ac:chgData name="Camila Utreras" userId="21a7d57e8591b932" providerId="LiveId" clId="{3D47D72A-6394-46F0-88AF-A9E836802BAF}" dt="2026-02-16T00:40:30.533" v="3392" actId="20577"/>
          <ac:spMkLst>
            <pc:docMk/>
            <pc:sldMk cId="1135466107" sldId="264"/>
            <ac:spMk id="2" creationId="{20FE3D70-1C4C-4997-3AEA-511B0EE74940}"/>
          </ac:spMkLst>
        </pc:spChg>
        <pc:spChg chg="mod">
          <ac:chgData name="Camila Utreras" userId="21a7d57e8591b932" providerId="LiveId" clId="{3D47D72A-6394-46F0-88AF-A9E836802BAF}" dt="2026-02-16T01:01:47.382" v="5990" actId="27636"/>
          <ac:spMkLst>
            <pc:docMk/>
            <pc:sldMk cId="1135466107" sldId="264"/>
            <ac:spMk id="3" creationId="{000C7313-B8EF-D668-4E25-4CBEBBB20471}"/>
          </ac:spMkLst>
        </pc:spChg>
      </pc:sldChg>
      <pc:sldChg chg="new">
        <pc:chgData name="Camila Utreras" userId="21a7d57e8591b932" providerId="LiveId" clId="{3D47D72A-6394-46F0-88AF-A9E836802BAF}" dt="2026-02-16T00:31:12.247" v="2402" actId="680"/>
        <pc:sldMkLst>
          <pc:docMk/>
          <pc:sldMk cId="381481311" sldId="265"/>
        </pc:sldMkLst>
      </pc:sldChg>
      <pc:sldChg chg="new">
        <pc:chgData name="Camila Utreras" userId="21a7d57e8591b932" providerId="LiveId" clId="{3D47D72A-6394-46F0-88AF-A9E836802BAF}" dt="2026-02-18T21:21:51.057" v="6789" actId="680"/>
        <pc:sldMkLst>
          <pc:docMk/>
          <pc:sldMk cId="917141976" sldId="266"/>
        </pc:sldMkLst>
      </pc:sldChg>
      <pc:sldChg chg="modSp new del mod">
        <pc:chgData name="Camila Utreras" userId="21a7d57e8591b932" providerId="LiveId" clId="{3D47D72A-6394-46F0-88AF-A9E836802BAF}" dt="2026-02-18T21:21:27.464" v="6787" actId="47"/>
        <pc:sldMkLst>
          <pc:docMk/>
          <pc:sldMk cId="1443215647" sldId="266"/>
        </pc:sldMkLst>
      </pc:sldChg>
      <pc:sldChg chg="new">
        <pc:chgData name="Camila Utreras" userId="21a7d57e8591b932" providerId="LiveId" clId="{3D47D72A-6394-46F0-88AF-A9E836802BAF}" dt="2026-02-18T21:21:52.823" v="6790" actId="680"/>
        <pc:sldMkLst>
          <pc:docMk/>
          <pc:sldMk cId="23278014" sldId="267"/>
        </pc:sldMkLst>
      </pc:sldChg>
      <pc:sldChg chg="new">
        <pc:chgData name="Camila Utreras" userId="21a7d57e8591b932" providerId="LiveId" clId="{3D47D72A-6394-46F0-88AF-A9E836802BAF}" dt="2026-02-18T21:21:53.013" v="6791" actId="680"/>
        <pc:sldMkLst>
          <pc:docMk/>
          <pc:sldMk cId="2964277362" sldId="268"/>
        </pc:sldMkLst>
      </pc:sldChg>
      <pc:sldChg chg="new">
        <pc:chgData name="Camila Utreras" userId="21a7d57e8591b932" providerId="LiveId" clId="{3D47D72A-6394-46F0-88AF-A9E836802BAF}" dt="2026-02-18T21:21:53.169" v="6792" actId="680"/>
        <pc:sldMkLst>
          <pc:docMk/>
          <pc:sldMk cId="1458977740" sldId="269"/>
        </pc:sldMkLst>
      </pc:sldChg>
      <pc:sldChg chg="new">
        <pc:chgData name="Camila Utreras" userId="21a7d57e8591b932" providerId="LiveId" clId="{3D47D72A-6394-46F0-88AF-A9E836802BAF}" dt="2026-02-18T21:21:53.322" v="6793" actId="680"/>
        <pc:sldMkLst>
          <pc:docMk/>
          <pc:sldMk cId="2648519663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BACC8-5941-45BB-BB2D-B1C5B8D81F28}" type="datetimeFigureOut">
              <a:rPr lang="es-CL" smtClean="0"/>
              <a:t>18-02-2026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D843F-3E6D-4FA7-8D4E-0637B371436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6603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Han, Ko &amp; Urmie (2014) “The role of satisfaction and switching costs in Medicare Part D choices” (switching costs/complexity and inertia): https://pubmed.ncbi.nlm.nih.gov/23988694/
- Lusardi &amp; Mitchell (2011) “Financial Literacy and Retirement Planning in the United States” (financial literacy and retirement planning): https://www.nber.org/system/files/working_papers/w17108/w17108.pdf
- Clark, Morrill &amp; Allen (2012) “The Role of Financial Literacy in Determining Retirement Plans” (limited knowledge and retirement decisions): https://onlinelibrary.wiley.com/doi/abs/10.1111/j.1465-7295.2011.00390.x
- Christelis, Jappelli &amp; Padula (2010) “Cognitive abilities and portfolio choice” (cognitive abilities and financial decisions in 50+): https://www.sciencedirect.com/science/article/pii/S0014292109000579
- Finke, Howe &amp; Huston (2017) “Old Age and the Decline in Financial Literacy” (decline after ~60; confidence does not decline): https://ideas.repec.org/a/inm/ormnsc/v63y2017i1p213-230.html
- Hero image (Pexels, Mikhail Nilov): https://www.pexels.com/photo/an-elderly-couple-looking-at-the-laptop-screen-7530039/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EDB2E-C9B6-F1C9-94BD-4895C2ECA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193A5-2909-B731-8B28-13CA6A29F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23E419-6C9E-C228-F519-769FADE43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Sweller, van Merriënboer &amp; Paas (2019) “Cognitive Architecture and Instructional Design: 20 Years Later” (CLT; limits of working memory; extraneous load): https://link.springer.com/article/10.1007/s10648-019-09465-5
- Moreno &amp; Mayer (2007) “Interactive Multimodal Learning Environments” (CTML/CATLM; segmenting/signaling/pretraining principles): https://nschwartz.yourweb.csuchico.edu/Moreno%20%26%20Mayer%20Interactive%20Multimodal%20Learning%20Environments.pdf
- Mayer &amp; Chandler (2001) “When Learning Is Just a Click Away…” (pace control + segmenting effects on learning): https://tecfa.unige.ch/tecfa/teaching/methodo/Mayer_Chandler01.pdf
- Landers &amp; Reddock (2017) “A Meta-Analytic Investigation of Objective Learner Control in Web-based Instruction” (mixed effects; implementation matters): https://link.springer.com/article/10.1007/s10869-016-9452-y
- Dillon &amp; Gabbard (1998) “Hypermedia as an Educational Technology: A Review…” (disorientation/learner control issues): https://journals.sagepub.com/doi/10.3102/00346543068003322
- Gerjets et al. (2009) “Learning with hypermedia…” (levels of learner control; learning behavior/performance): https://www.sciencedirect.com/science/article/abs/pii/S0747563208002264
- Lusardi &amp; Mitchell (2011) “Financial Literacy and Retirement Planning in the United States”: https://www.nber.org/system/files/working_papers/w17108/w17108.pdf
- Clark, Morrill &amp; Allen (2012) “The Role of Financial Literacy in Determining Retirement Plans”: https://onlinelibrary.wiley.com/doi/abs/10.1111/j.1465-7295.2011.00390.x
- Duch et al. (2021) “Choice architecture improves pension selection” (online field experiment; decision quality): https://raymondduch.com/files/choice-architecture-improves-pension-selection.pdf
- Kramer et al. (2024) “Do online pension dashboards affect pension knowledge and expectations?” (randomized survey experiment): https://www.cambridge.org/core/journals/journal-of-pension-economics-and-finance/article/do-online-pension-dashboards-affect-pension-knowledge-and-expectations-evidence-from-a-randomized-survey-experiment/ECC8322CCF2F66C299D1A14BA100FDB0
- Laroze et al. (2025) “Improving pension information: Experimental evidence on learning using online resources”: https://www.sciencedirect.com/science/article/abs/pii/S2214635025000279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A7BCF-84CD-7E26-E089-07C3F408FE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52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144D8-0B4D-3FFD-08ED-CA9755356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1C3F84-7466-AECC-C978-A85C003E0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9407BE-F4CF-D4DF-541B-A3E2B983F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7739E-9501-40D5-9CBB-A8815C6642CB}" type="datetimeFigureOut">
              <a:rPr lang="es-CL" smtClean="0"/>
              <a:t>18-02-2026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6C15C6-0E63-BCA3-FABD-5309115AF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1C2730-B392-279B-3031-9FC1B7CF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5DF6-94A6-48BC-A95B-EB8195D017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2110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AE60C0-D3D5-86C9-8761-0F3BC9993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D047BA-CF5E-407E-A3B9-1BD25B4C4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DBE1BE-5659-0C56-CF30-5C42CDB9D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7739E-9501-40D5-9CBB-A8815C6642CB}" type="datetimeFigureOut">
              <a:rPr lang="es-CL" smtClean="0"/>
              <a:t>18-02-2026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77ED6B-BB89-1563-181B-45BC07B8B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6B4A47-6B05-5215-D1C3-B63F1AF40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5DF6-94A6-48BC-A95B-EB8195D017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033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58C80-01D3-8392-E2E6-07A23C81C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D9D8E4-F37D-FC0E-4633-08FBB329D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B0CDEF-FBCE-61C5-CC82-FF129810C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7739E-9501-40D5-9CBB-A8815C6642CB}" type="datetimeFigureOut">
              <a:rPr lang="es-CL" smtClean="0"/>
              <a:t>18-02-2026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7FBE02-3CB0-DD58-8533-1C72B244C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A1130D-22EC-7A2B-97E0-AE078AC7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5DF6-94A6-48BC-A95B-EB8195D017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26054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646C1A-4A19-6F43-C9C1-49965C6BE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44BC6D-1C47-4A6A-979D-AACAC08203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1B54413-9CFE-1907-38E6-53467019E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39D1E3-9DFD-A758-A067-7BED85834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7739E-9501-40D5-9CBB-A8815C6642CB}" type="datetimeFigureOut">
              <a:rPr lang="es-CL" smtClean="0"/>
              <a:t>18-02-2026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BAF2FC-76B8-5CE1-4F6C-817AE9208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932781-338A-641D-672F-6A2EE3CF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5DF6-94A6-48BC-A95B-EB8195D017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36307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C3E83-1870-0857-1A1B-55863539D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751899-A145-74C9-7C24-B3DE93512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71D46AE-70C3-86A6-90DE-D71F35C7A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67DF726-2E4C-B31B-EEF6-6151FEBE00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3A49629-4317-4D77-15FD-60E5915AFB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628DD96-2648-605F-C5F7-2A392F00A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7739E-9501-40D5-9CBB-A8815C6642CB}" type="datetimeFigureOut">
              <a:rPr lang="es-CL" smtClean="0"/>
              <a:t>18-02-2026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E7FA294-4EB2-6B32-BF74-37FAB52A1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67D7AB6-A634-2531-AA54-E0FD33CA5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5DF6-94A6-48BC-A95B-EB8195D017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1807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C00C24-312A-CB5E-8219-C5287317C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69FDD66-50D1-2D0C-64A5-BED540533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7739E-9501-40D5-9CBB-A8815C6642CB}" type="datetimeFigureOut">
              <a:rPr lang="es-CL" smtClean="0"/>
              <a:t>18-02-2026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D8092D6-4F49-51EE-8000-5E10A56FF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28BE0C6-8887-EC58-5470-7AF3BD3AD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5DF6-94A6-48BC-A95B-EB8195D017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33748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E3430BE-88AF-7C41-AC2D-A1FBC4002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7739E-9501-40D5-9CBB-A8815C6642CB}" type="datetimeFigureOut">
              <a:rPr lang="es-CL" smtClean="0"/>
              <a:t>18-02-2026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314DE0-687D-808C-1703-645D13D40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99D604-D353-A944-7F05-EF5E1F3FA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5DF6-94A6-48BC-A95B-EB8195D017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5012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606EF7-C3C0-9113-2FA9-9EEC34490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7321D1-1FA4-CB2E-E49C-4D2DD2CED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2161C0-5E74-D760-D136-C4D2F2742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C58D19-0098-1C5F-FF43-2EDCD4A90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7739E-9501-40D5-9CBB-A8815C6642CB}" type="datetimeFigureOut">
              <a:rPr lang="es-CL" smtClean="0"/>
              <a:t>18-02-2026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54ACC5-AB3B-BDA0-499D-28AC1BEA2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C24A0B-EC38-07ED-80E6-31BA4EB5A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5DF6-94A6-48BC-A95B-EB8195D017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84388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A4DF6D-8E85-03A2-13BD-8E88CE34E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4155C10-F7AE-1C74-9D3F-BBB0EC8697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5B63C9-D04A-3220-655A-FEE829D64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3D705D-3216-57D3-29AF-726C6823A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7739E-9501-40D5-9CBB-A8815C6642CB}" type="datetimeFigureOut">
              <a:rPr lang="es-CL" smtClean="0"/>
              <a:t>18-02-2026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7F2B65-2EF9-9E00-0508-E0FE95AA4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A5844F-DB42-596E-9F69-F82024B87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5DF6-94A6-48BC-A95B-EB8195D017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3014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AC0D9-1516-EC7E-45FC-32611CEF6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AA8B84-9CDC-D20D-18DA-05486C786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AD2942-8C6C-CBC6-8FF0-1EFE8CDCC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7739E-9501-40D5-9CBB-A8815C6642CB}" type="datetimeFigureOut">
              <a:rPr lang="es-CL" smtClean="0"/>
              <a:t>18-02-2026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4D4A32-5604-E528-BD1F-80EB93D0C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5E26BA-51C7-C5B5-5806-7F016921B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5DF6-94A6-48BC-A95B-EB8195D017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1831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253AAE-20C5-0C26-B146-85CB92E839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CE64BF1-ECCC-8994-7D8A-317450641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17A831-3FC7-E5C2-FE7F-32CD6FE00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7739E-9501-40D5-9CBB-A8815C6642CB}" type="datetimeFigureOut">
              <a:rPr lang="es-CL" smtClean="0"/>
              <a:t>18-02-2026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E4B000-2E12-CCEF-2DF3-FDE47A627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0FCE22-E508-8791-A429-56C1DCC5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5DF6-94A6-48BC-A95B-EB8195D017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61776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7216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7B92638-3031-85E1-1A39-D3836146F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76A1E4-90DA-4F9A-11F3-640F88547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55DAEB-3F79-7305-720B-278B986EA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C7739E-9501-40D5-9CBB-A8815C6642CB}" type="datetimeFigureOut">
              <a:rPr lang="es-CL" smtClean="0"/>
              <a:t>18-02-2026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B27C11-5250-FBD9-9BC8-D599627689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7E7DE5-D15B-E0C1-3385-0AF7E7F91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135DF6-94A6-48BC-A95B-EB8195D017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73606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B107A1-180F-3629-98C9-757C365D60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94C063-0461-4DF9-3C18-7CB33F8AF6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4898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Motivación: aprendizaje previsional para decisiones de retiro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14984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51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complejas, consecuencias persistentes y alta heterogeneidad en comprensión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997474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2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548640" y="1468119"/>
            <a:ext cx="109728" cy="1325880"/>
          </a:xfrm>
          <a:prstGeom prst="rect">
            <a:avLst/>
          </a:prstGeom>
          <a:solidFill>
            <a:srgbClr val="0A7C86"/>
          </a:solidFill>
          <a:ln w="12700">
            <a:solidFill>
              <a:srgbClr val="0A7C8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77240" y="1469951"/>
            <a:ext cx="6172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 importa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39" y="1777654"/>
            <a:ext cx="10455345" cy="9532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decisiones de jubilación concentran incertidumbre, tecnicismo y alto costo de error.</a:t>
            </a:r>
            <a:endParaRPr lang="en-US" sz="1600" dirty="0"/>
          </a:p>
          <a:p>
            <a:pPr marL="195580" indent="-19558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complejidad percibida y los costos de evaluación pueden traducirse </a:t>
            </a:r>
            <a:r>
              <a:rPr lang="en-US" sz="1600" dirty="0" err="1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16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inercia</a:t>
            </a:r>
            <a:r>
              <a:rPr lang="en-US" sz="16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600" dirty="0" err="1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postergando</a:t>
            </a:r>
            <a:r>
              <a:rPr lang="en-US" sz="16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 </a:t>
            </a:r>
            <a:r>
              <a:rPr lang="en-US" sz="1600" dirty="0" err="1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delegando</a:t>
            </a:r>
            <a:r>
              <a:rPr lang="en-US" sz="16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decisions </a:t>
            </a:r>
            <a:r>
              <a:rPr lang="en-US" sz="1600" dirty="0" err="1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relevantes</a:t>
            </a:r>
            <a:r>
              <a:rPr lang="en-US" sz="16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0997474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2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109728" cy="1325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777239" y="3005766"/>
            <a:ext cx="1045534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sabemos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39" y="3335241"/>
            <a:ext cx="1045534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alfabetización financiera se asocia con planificar y tomar decisiones de retiro más consistentes.</a:t>
            </a:r>
            <a:endParaRPr lang="en-US" sz="1600" dirty="0"/>
          </a:p>
          <a:p>
            <a:pPr marL="195580" indent="-19558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adultos mayores, habilidades cognitivas se relacionan con </a:t>
            </a:r>
            <a:r>
              <a:rPr lang="en-US" sz="1600" dirty="0" err="1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</a:t>
            </a:r>
            <a:r>
              <a:rPr lang="en-US" sz="16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financieras</a:t>
            </a:r>
            <a:r>
              <a:rPr lang="en-US" sz="16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 la comprensión es una restricción real.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39" y="4526280"/>
            <a:ext cx="10997473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2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09728" cy="1325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777240" y="4690872"/>
            <a:ext cx="1045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Propuesta</a:t>
            </a:r>
            <a:r>
              <a:rPr lang="en-US" sz="1800" b="1" dirty="0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5005833"/>
            <a:ext cx="1045534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Intervención digital para aprendizaje previsional con dos condiciones: guía/estructura vs navegación libre.</a:t>
            </a:r>
            <a:endParaRPr lang="en-US" sz="1600" dirty="0"/>
          </a:p>
          <a:p>
            <a:pPr marL="195580" indent="-19558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con aprendizaje (post-test), carga cognitiva y medición/control de exposición (tiempo/orden/logs).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6016752"/>
            <a:ext cx="11064240" cy="710619"/>
          </a:xfrm>
          <a:prstGeom prst="roundRect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777240" y="614259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¿Una ruta de aprendizaje personalizada y estructurada mejora la comprensión del proceso de jubilación en comparación con la navegación libre sobre los mismos contenidos?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0ADD8-E566-8132-AA66-0509230B0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73F628-4C28-422C-6162-5AFC591BEBED}"/>
              </a:ext>
            </a:extLst>
          </p:cNvPr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Revisión de literatura: 4 líneas, 1 brecha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D0E165-56E3-C25D-ADC2-7A00C7A81BA3}"/>
              </a:ext>
            </a:extLst>
          </p:cNvPr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51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evidencia existe… pero está fragmentada entre aprendizaje, carga cognitiva, alfabetización financiera y pensiones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B32060F-5CB9-71DB-5EA8-BE139C9E2160}"/>
              </a:ext>
            </a:extLst>
          </p:cNvPr>
          <p:cNvSpPr/>
          <p:nvPr/>
        </p:nvSpPr>
        <p:spPr>
          <a:xfrm>
            <a:off x="548640" y="1508760"/>
            <a:ext cx="5372100" cy="3187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2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E02BC2D-0967-8C35-7125-3C5FD871CFC9}"/>
              </a:ext>
            </a:extLst>
          </p:cNvPr>
          <p:cNvSpPr/>
          <p:nvPr/>
        </p:nvSpPr>
        <p:spPr>
          <a:xfrm>
            <a:off x="548640" y="1667510"/>
            <a:ext cx="109728" cy="2880000"/>
          </a:xfrm>
          <a:prstGeom prst="rect">
            <a:avLst/>
          </a:prstGeom>
          <a:solidFill>
            <a:srgbClr val="0A7C86"/>
          </a:solidFill>
          <a:ln w="12700">
            <a:solidFill>
              <a:srgbClr val="0A7C8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81C728F-D14D-3D3C-5D85-C16B110BEB1C}"/>
              </a:ext>
            </a:extLst>
          </p:cNvPr>
          <p:cNvSpPr/>
          <p:nvPr/>
        </p:nvSpPr>
        <p:spPr>
          <a:xfrm>
            <a:off x="777240" y="1673352"/>
            <a:ext cx="5052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 cognitiva (CLT/CTML)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0200984-C083-E242-8D3F-F84B92B96C1B}"/>
              </a:ext>
            </a:extLst>
          </p:cNvPr>
          <p:cNvSpPr/>
          <p:nvPr/>
        </p:nvSpPr>
        <p:spPr>
          <a:xfrm>
            <a:off x="777240" y="2039112"/>
            <a:ext cx="5052060" cy="292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20000"/>
              </a:lnSpc>
              <a:buSzPct val="100000"/>
              <a:buChar char="•"/>
            </a:pP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Restricciones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procesamiento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búsqueda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actuan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como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barreras para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elegir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mejores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alternativas</a:t>
            </a:r>
            <a:r>
              <a:rPr lang="en-US" sz="14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</a:t>
            </a:r>
          </a:p>
          <a:p>
            <a:pPr marL="195580" indent="-19558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alfabetización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financiera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disminuye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con la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edad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mientras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que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la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confianza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no lo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hace</a:t>
            </a:r>
            <a:r>
              <a:rPr lang="en-US" sz="14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</a:t>
            </a:r>
          </a:p>
          <a:p>
            <a:pPr marL="195580" indent="-19558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diseño puede aumentar o reducir carga extrínseca; “más tiempo” no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implica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mejor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aprendizaje.</a:t>
            </a:r>
            <a:endParaRPr lang="en-US" sz="1400" dirty="0">
              <a:latin typeface="Aptos" panose="020B0004020202020204" pitchFamily="34" charset="0"/>
            </a:endParaRPr>
          </a:p>
          <a:p>
            <a:pPr marL="195580" indent="-195580">
              <a:lnSpc>
                <a:spcPct val="120000"/>
              </a:lnSpc>
              <a:buSzPct val="100000"/>
              <a:buChar char="•"/>
            </a:pP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Principios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segmentación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, señalización, preentrenamiento y control del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ritmo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para </a:t>
            </a:r>
            <a:r>
              <a:rPr lang="es-MX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liberar recursos hacia procesos esenciales de selección, organización e integración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195580" indent="-195580">
              <a:lnSpc>
                <a:spcPct val="120000"/>
              </a:lnSpc>
              <a:buSzPct val="100000"/>
              <a:buChar char="•"/>
            </a:pP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FDA2256-2901-4846-2236-F46A677BBF35}"/>
              </a:ext>
            </a:extLst>
          </p:cNvPr>
          <p:cNvSpPr/>
          <p:nvPr/>
        </p:nvSpPr>
        <p:spPr>
          <a:xfrm>
            <a:off x="548640" y="4861000"/>
            <a:ext cx="537210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2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FCBBFF0-43F3-16EE-1BFF-1F4BCCC2CB4B}"/>
              </a:ext>
            </a:extLst>
          </p:cNvPr>
          <p:cNvSpPr/>
          <p:nvPr/>
        </p:nvSpPr>
        <p:spPr>
          <a:xfrm>
            <a:off x="548640" y="4861000"/>
            <a:ext cx="109728" cy="1874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C29CB5E-570D-CC9A-85E2-098853D9BDA2}"/>
              </a:ext>
            </a:extLst>
          </p:cNvPr>
          <p:cNvSpPr/>
          <p:nvPr/>
        </p:nvSpPr>
        <p:spPr>
          <a:xfrm>
            <a:off x="777240" y="5025592"/>
            <a:ext cx="5052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Financial literacy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D4E6D24-0AE5-CD01-9378-BA0EF70F7126}"/>
              </a:ext>
            </a:extLst>
          </p:cNvPr>
          <p:cNvSpPr/>
          <p:nvPr/>
        </p:nvSpPr>
        <p:spPr>
          <a:xfrm>
            <a:off x="777240" y="5391352"/>
            <a:ext cx="5052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Conocimientos financieros básicos suelen ser limitados y heterogéneos.</a:t>
            </a:r>
            <a:endParaRPr lang="en-US" sz="1400" dirty="0"/>
          </a:p>
          <a:p>
            <a:pPr marL="195580" indent="-19558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Mayor alfabetización financiera se asocia con planificación y conductas previsionales más consistentes.</a:t>
            </a:r>
            <a:endParaRPr lang="en-US" sz="140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6FD60803-296B-6308-DCD6-5E2EC8F897BE}"/>
              </a:ext>
            </a:extLst>
          </p:cNvPr>
          <p:cNvSpPr/>
          <p:nvPr/>
        </p:nvSpPr>
        <p:spPr>
          <a:xfrm>
            <a:off x="6271260" y="1508760"/>
            <a:ext cx="5372100" cy="30822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2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dirty="0">
              <a:latin typeface="Aptos" panose="020B0004020202020204" pitchFamily="34" charset="0"/>
            </a:endParaRPr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8D87F2AE-D067-2B4B-6ED1-A5D8357C7D79}"/>
              </a:ext>
            </a:extLst>
          </p:cNvPr>
          <p:cNvSpPr/>
          <p:nvPr/>
        </p:nvSpPr>
        <p:spPr>
          <a:xfrm>
            <a:off x="6271260" y="1667510"/>
            <a:ext cx="109728" cy="2880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A1322816-2416-3A96-E3C2-F1114A92E025}"/>
              </a:ext>
            </a:extLst>
          </p:cNvPr>
          <p:cNvSpPr/>
          <p:nvPr/>
        </p:nvSpPr>
        <p:spPr>
          <a:xfrm>
            <a:off x="6499860" y="1673352"/>
            <a:ext cx="5052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Aprendizaje</a:t>
            </a:r>
            <a:r>
              <a:rPr lang="en-US" sz="1800" b="1" dirty="0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digital</a:t>
            </a:r>
            <a:endParaRPr lang="en-US" sz="1800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7761AE6A-82A2-B701-B502-D6018A86C6E6}"/>
              </a:ext>
            </a:extLst>
          </p:cNvPr>
          <p:cNvSpPr/>
          <p:nvPr/>
        </p:nvSpPr>
        <p:spPr>
          <a:xfrm>
            <a:off x="6499860" y="2039112"/>
            <a:ext cx="5052060" cy="23487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Los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efectos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entregar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control al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aprendiz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es mixta y depende de cómo se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implementa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dicho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control (secuencia, ritmo,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acceso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) y de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que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se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mide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. </a:t>
            </a:r>
            <a:endParaRPr lang="en-US" sz="1400" dirty="0">
              <a:latin typeface="Aptos" panose="020B0004020202020204" pitchFamily="34" charset="0"/>
            </a:endParaRPr>
          </a:p>
          <a:p>
            <a:pPr marL="195580" indent="-19558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En hipermedia, la no linealidad puede causar desorientación y procesamiento superficial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si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no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existen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apoyos</a:t>
            </a:r>
            <a:r>
              <a:rPr lang="en-US" sz="1400" dirty="0">
                <a:solidFill>
                  <a:srgbClr val="22384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195580" indent="-195580">
              <a:lnSpc>
                <a:spcPct val="120000"/>
              </a:lnSpc>
              <a:buSzPct val="100000"/>
              <a:buChar char="•"/>
            </a:pPr>
            <a:r>
              <a:rPr lang="es-MX" sz="1400" dirty="0">
                <a:latin typeface="Aptos" panose="020B0004020202020204" pitchFamily="34" charset="0"/>
              </a:rPr>
              <a:t>En contenidos complejos, la libertad de navegación puede incrementar el costo cognitivo de “administrar” el sistema, aumentar el tiempo de exposición y, aun así, no se traduce en aprendizaje proporcional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07D3D2F3-C3FD-3BCD-BDDF-9F2C8AB9939A}"/>
              </a:ext>
            </a:extLst>
          </p:cNvPr>
          <p:cNvSpPr/>
          <p:nvPr/>
        </p:nvSpPr>
        <p:spPr>
          <a:xfrm>
            <a:off x="6271260" y="4861000"/>
            <a:ext cx="537210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2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9CADDDC9-0658-AB9F-CAA8-48484A2AC5DC}"/>
              </a:ext>
            </a:extLst>
          </p:cNvPr>
          <p:cNvSpPr/>
          <p:nvPr/>
        </p:nvSpPr>
        <p:spPr>
          <a:xfrm>
            <a:off x="6271260" y="4861000"/>
            <a:ext cx="109728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6D10773F-A977-E702-AACA-043F4D7989C0}"/>
              </a:ext>
            </a:extLst>
          </p:cNvPr>
          <p:cNvSpPr/>
          <p:nvPr/>
        </p:nvSpPr>
        <p:spPr>
          <a:xfrm>
            <a:off x="6499860" y="5025592"/>
            <a:ext cx="5052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Pensiones / retiro (evidencia aplicada)</a:t>
            </a:r>
            <a:endParaRPr lang="en-US" sz="1800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AFD31102-A690-E7F7-ACA5-5B6D1386E03F}"/>
              </a:ext>
            </a:extLst>
          </p:cNvPr>
          <p:cNvSpPr/>
          <p:nvPr/>
        </p:nvSpPr>
        <p:spPr>
          <a:xfrm>
            <a:off x="6499860" y="5391352"/>
            <a:ext cx="5052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Rediseños informacionales y “choice architecture” pueden mejorar comprensión y calidad de elección.</a:t>
            </a:r>
            <a:endParaRPr lang="en-US" sz="1400" dirty="0"/>
          </a:p>
          <a:p>
            <a:pPr marL="195580" indent="-19558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23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Intervenciones digitales (p. ej., dashboards) muestran efectos, pero rara vez miden carga cognitiva + exposición.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80315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7099BEA-8C64-4D74-7BE7-8FFA1AE4F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018870"/>
              </p:ext>
            </p:extLst>
          </p:nvPr>
        </p:nvGraphicFramePr>
        <p:xfrm>
          <a:off x="275943" y="160019"/>
          <a:ext cx="11819682" cy="6639919"/>
        </p:xfrm>
        <a:graphic>
          <a:graphicData uri="http://schemas.openxmlformats.org/drawingml/2006/table">
            <a:tbl>
              <a:tblPr firstRow="1" lastRow="1">
                <a:tableStyleId>{5C22544A-7EE6-4342-B048-85BDC9FD1C3A}</a:tableStyleId>
              </a:tblPr>
              <a:tblGrid>
                <a:gridCol w="305742">
                  <a:extLst>
                    <a:ext uri="{9D8B030D-6E8A-4147-A177-3AD203B41FA5}">
                      <a16:colId xmlns:a16="http://schemas.microsoft.com/office/drawing/2014/main" val="1665800401"/>
                    </a:ext>
                  </a:extLst>
                </a:gridCol>
                <a:gridCol w="1402715">
                  <a:extLst>
                    <a:ext uri="{9D8B030D-6E8A-4147-A177-3AD203B41FA5}">
                      <a16:colId xmlns:a16="http://schemas.microsoft.com/office/drawing/2014/main" val="1513098944"/>
                    </a:ext>
                  </a:extLst>
                </a:gridCol>
                <a:gridCol w="494154">
                  <a:extLst>
                    <a:ext uri="{9D8B030D-6E8A-4147-A177-3AD203B41FA5}">
                      <a16:colId xmlns:a16="http://schemas.microsoft.com/office/drawing/2014/main" val="2760007072"/>
                    </a:ext>
                  </a:extLst>
                </a:gridCol>
                <a:gridCol w="1288655">
                  <a:extLst>
                    <a:ext uri="{9D8B030D-6E8A-4147-A177-3AD203B41FA5}">
                      <a16:colId xmlns:a16="http://schemas.microsoft.com/office/drawing/2014/main" val="780962018"/>
                    </a:ext>
                  </a:extLst>
                </a:gridCol>
                <a:gridCol w="1265979">
                  <a:extLst>
                    <a:ext uri="{9D8B030D-6E8A-4147-A177-3AD203B41FA5}">
                      <a16:colId xmlns:a16="http://schemas.microsoft.com/office/drawing/2014/main" val="1659647889"/>
                    </a:ext>
                  </a:extLst>
                </a:gridCol>
                <a:gridCol w="1074815">
                  <a:extLst>
                    <a:ext uri="{9D8B030D-6E8A-4147-A177-3AD203B41FA5}">
                      <a16:colId xmlns:a16="http://schemas.microsoft.com/office/drawing/2014/main" val="1793680500"/>
                    </a:ext>
                  </a:extLst>
                </a:gridCol>
                <a:gridCol w="1120389">
                  <a:extLst>
                    <a:ext uri="{9D8B030D-6E8A-4147-A177-3AD203B41FA5}">
                      <a16:colId xmlns:a16="http://schemas.microsoft.com/office/drawing/2014/main" val="2959732525"/>
                    </a:ext>
                  </a:extLst>
                </a:gridCol>
                <a:gridCol w="922116">
                  <a:extLst>
                    <a:ext uri="{9D8B030D-6E8A-4147-A177-3AD203B41FA5}">
                      <a16:colId xmlns:a16="http://schemas.microsoft.com/office/drawing/2014/main" val="754489216"/>
                    </a:ext>
                  </a:extLst>
                </a:gridCol>
                <a:gridCol w="1141024">
                  <a:extLst>
                    <a:ext uri="{9D8B030D-6E8A-4147-A177-3AD203B41FA5}">
                      <a16:colId xmlns:a16="http://schemas.microsoft.com/office/drawing/2014/main" val="3284104295"/>
                    </a:ext>
                  </a:extLst>
                </a:gridCol>
                <a:gridCol w="912808">
                  <a:extLst>
                    <a:ext uri="{9D8B030D-6E8A-4147-A177-3AD203B41FA5}">
                      <a16:colId xmlns:a16="http://schemas.microsoft.com/office/drawing/2014/main" val="3539174396"/>
                    </a:ext>
                  </a:extLst>
                </a:gridCol>
                <a:gridCol w="919375">
                  <a:extLst>
                    <a:ext uri="{9D8B030D-6E8A-4147-A177-3AD203B41FA5}">
                      <a16:colId xmlns:a16="http://schemas.microsoft.com/office/drawing/2014/main" val="3357129429"/>
                    </a:ext>
                  </a:extLst>
                </a:gridCol>
                <a:gridCol w="971910">
                  <a:extLst>
                    <a:ext uri="{9D8B030D-6E8A-4147-A177-3AD203B41FA5}">
                      <a16:colId xmlns:a16="http://schemas.microsoft.com/office/drawing/2014/main" val="4128782584"/>
                    </a:ext>
                  </a:extLst>
                </a:gridCol>
              </a:tblGrid>
              <a:tr h="37146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ID</a:t>
                      </a:r>
                      <a:endParaRPr lang="es-CL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Autores</a:t>
                      </a:r>
                      <a:endParaRPr lang="es-CL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Año</a:t>
                      </a:r>
                      <a:endParaRPr lang="es-CL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Empírico</a:t>
                      </a:r>
                    </a:p>
                    <a:p>
                      <a:pPr algn="ctr" fontAlgn="t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/Experimental</a:t>
                      </a:r>
                      <a:endParaRPr lang="es-CL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Pensiones</a:t>
                      </a:r>
                    </a:p>
                    <a:p>
                      <a:pPr algn="ctr" fontAlgn="t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/Jubilación/Retiro</a:t>
                      </a:r>
                      <a:endParaRPr lang="es-CL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Población: +50</a:t>
                      </a:r>
                      <a:endParaRPr lang="es-CL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Personalización</a:t>
                      </a:r>
                      <a:endParaRPr lang="es-CL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Intervención Digital</a:t>
                      </a:r>
                      <a:endParaRPr lang="es-CL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Comparación guía vs libre</a:t>
                      </a:r>
                      <a:endParaRPr lang="es-CL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Mide aprendizaje</a:t>
                      </a:r>
                      <a:endParaRPr lang="es-CL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Mide carga cognitiva</a:t>
                      </a:r>
                      <a:endParaRPr lang="es-CL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MX" sz="900" u="none" strike="noStrike" dirty="0">
                          <a:effectLst/>
                        </a:rPr>
                        <a:t>Mide exposición</a:t>
                      </a:r>
                      <a:endParaRPr lang="es-MX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718283413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1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dirty="0" err="1">
                          <a:effectLst/>
                        </a:rPr>
                        <a:t>Angrisani</a:t>
                      </a:r>
                      <a:r>
                        <a:rPr lang="es-CL" sz="900" u="none" strike="noStrike" dirty="0">
                          <a:effectLst/>
                        </a:rPr>
                        <a:t> &amp; Lee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2019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135271706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900" u="none" strike="noStrike" dirty="0">
                          <a:effectLst/>
                        </a:rPr>
                        <a:t>Christelis, et al</a:t>
                      </a:r>
                      <a:endParaRPr lang="fi-FI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2010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114339420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3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Clark, et al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2010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563908077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4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Clark, et al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2017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633808233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5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900" u="none" strike="noStrike" dirty="0">
                          <a:effectLst/>
                        </a:rPr>
                        <a:t>Koning, et al</a:t>
                      </a:r>
                      <a:endParaRPr lang="sv-SE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2009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669416124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Dillon &amp; </a:t>
                      </a:r>
                      <a:r>
                        <a:rPr lang="es-CL" sz="900" u="none" strike="noStrike" dirty="0" err="1">
                          <a:effectLst/>
                        </a:rPr>
                        <a:t>Gabbard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1998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96259386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7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Eveland &amp; Dunwoody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2001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668898361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8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Fink &amp; Beck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2015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779362110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9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Finke, et al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2017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926395493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10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dirty="0" err="1">
                          <a:effectLst/>
                        </a:rPr>
                        <a:t>Garvelink</a:t>
                      </a:r>
                      <a:r>
                        <a:rPr lang="es-CL" sz="900" u="none" strike="noStrike" dirty="0">
                          <a:effectLst/>
                        </a:rPr>
                        <a:t>, et al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2020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489192938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11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dirty="0" err="1">
                          <a:effectLst/>
                        </a:rPr>
                        <a:t>Gerjets</a:t>
                      </a:r>
                      <a:r>
                        <a:rPr lang="es-CL" sz="900" u="none" strike="noStrike" dirty="0">
                          <a:effectLst/>
                        </a:rPr>
                        <a:t>, et al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2009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650737105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12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Han, et al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2014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609204462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13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dirty="0" err="1">
                          <a:effectLst/>
                        </a:rPr>
                        <a:t>Hauk</a:t>
                      </a:r>
                      <a:r>
                        <a:rPr lang="es-CL" sz="900" u="none" strike="noStrike" dirty="0">
                          <a:effectLst/>
                        </a:rPr>
                        <a:t> &amp; </a:t>
                      </a:r>
                      <a:r>
                        <a:rPr lang="es-CL" sz="900" u="none" strike="noStrike" dirty="0" err="1">
                          <a:effectLst/>
                        </a:rPr>
                        <a:t>Gröschner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2022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947671726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14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Kalyuga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2007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357794632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15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Kirschner, et al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2009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825259440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dirty="0" err="1">
                          <a:effectLst/>
                        </a:rPr>
                        <a:t>Landers</a:t>
                      </a:r>
                      <a:r>
                        <a:rPr lang="es-CL" sz="900" u="none" strike="noStrike" dirty="0">
                          <a:effectLst/>
                        </a:rPr>
                        <a:t> &amp; </a:t>
                      </a:r>
                      <a:r>
                        <a:rPr lang="es-CL" sz="900" u="none" strike="noStrike" dirty="0" err="1">
                          <a:effectLst/>
                        </a:rPr>
                        <a:t>Reddock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2017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265054901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17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Laroze, et al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2025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327624509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18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Lusardi &amp; Mitchell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2011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565696727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19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Mayer &amp; Chandler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2001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580083235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Moreno &amp; Mayer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2007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018769639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21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Rivera-</a:t>
                      </a:r>
                      <a:r>
                        <a:rPr lang="es-CL" sz="900" u="none" strike="noStrike" dirty="0" err="1">
                          <a:effectLst/>
                        </a:rPr>
                        <a:t>Hernandez</a:t>
                      </a:r>
                      <a:r>
                        <a:rPr lang="es-CL" sz="900" u="none" strike="noStrike" dirty="0">
                          <a:effectLst/>
                        </a:rPr>
                        <a:t>, et al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2021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538301737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22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dirty="0" err="1">
                          <a:effectLst/>
                        </a:rPr>
                        <a:t>Shah</a:t>
                      </a:r>
                      <a:r>
                        <a:rPr lang="es-CL" sz="900" u="none" strike="noStrike" dirty="0">
                          <a:effectLst/>
                        </a:rPr>
                        <a:t>, et al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2025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468642522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23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Sweller, et al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2019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362397232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24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900" u="none" strike="noStrike" dirty="0">
                          <a:effectLst/>
                        </a:rPr>
                        <a:t>van Gog &amp; Rummel</a:t>
                      </a:r>
                      <a:endParaRPr lang="nl-N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2010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52315282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25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900" u="none" strike="noStrike" dirty="0">
                          <a:effectLst/>
                        </a:rPr>
                        <a:t>Wouters, et al</a:t>
                      </a:r>
                      <a:endParaRPr lang="nl-N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2008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950028187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dirty="0" err="1">
                          <a:effectLst/>
                        </a:rPr>
                        <a:t>Duch</a:t>
                      </a:r>
                      <a:r>
                        <a:rPr lang="es-CL" sz="900" u="none" strike="noStrike" dirty="0">
                          <a:effectLst/>
                        </a:rPr>
                        <a:t>, et al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2021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936445253"/>
                  </a:ext>
                </a:extLst>
              </a:tr>
              <a:tr h="2321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Mi Proyecto</a:t>
                      </a:r>
                    </a:p>
                  </a:txBody>
                  <a:tcPr marL="45720" marR="45720" anchor="b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2026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X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256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1930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05A94F0-3FF5-20AF-605A-13FE6892E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Flujo diseño</a:t>
            </a:r>
            <a:endParaRPr lang="es-CL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06E49F-4FB3-A51C-B16F-E5A42A9D9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291" y="4669412"/>
            <a:ext cx="10515600" cy="1725181"/>
          </a:xfrm>
        </p:spPr>
        <p:txBody>
          <a:bodyPr>
            <a:normAutofit fontScale="92500" lnSpcReduction="20000"/>
          </a:bodyPr>
          <a:lstStyle/>
          <a:p>
            <a:r>
              <a:rPr lang="es-MX" dirty="0"/>
              <a:t>Experimento: Online entre sujetos</a:t>
            </a:r>
          </a:p>
          <a:p>
            <a:r>
              <a:rPr lang="es-MX" dirty="0"/>
              <a:t>Plataforma: </a:t>
            </a:r>
            <a:r>
              <a:rPr lang="es-MX" dirty="0" err="1"/>
              <a:t>Qualtrics</a:t>
            </a:r>
            <a:endParaRPr lang="es-MX" dirty="0"/>
          </a:p>
          <a:p>
            <a:r>
              <a:rPr lang="es-MX" dirty="0"/>
              <a:t>Panel: </a:t>
            </a:r>
            <a:r>
              <a:rPr lang="es-MX" dirty="0" err="1"/>
              <a:t>Netquest</a:t>
            </a:r>
            <a:r>
              <a:rPr lang="es-MX" dirty="0"/>
              <a:t> Chile </a:t>
            </a:r>
          </a:p>
          <a:p>
            <a:r>
              <a:rPr lang="es-MX" dirty="0"/>
              <a:t>Participantes: Adultos, mayores de 50/55 años</a:t>
            </a:r>
            <a:endParaRPr lang="es-CL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C051473-D7A1-BCA6-CA8E-222757A27D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788" b="29394"/>
          <a:stretch>
            <a:fillRect/>
          </a:stretch>
        </p:blipFill>
        <p:spPr>
          <a:xfrm>
            <a:off x="0" y="1445346"/>
            <a:ext cx="12171759" cy="300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43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9A679-C5CC-3F36-1861-31B6078B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A9592C-90F3-F4FC-CFDA-39836A286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78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FC75D2-7942-CD4D-EC50-D04055275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F5678D-7EBC-1955-B7EE-2B8E784DD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4277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1010B-0C4E-EF56-7A3C-A099C5D0C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9BEC4D-ABD3-70B8-2A5B-3C0813763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8977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8961D-DF8F-BE66-6D46-32A9C9A51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BF8F44-F06D-45BF-E4ED-6F4646E65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8519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E3D70-1C4C-4997-3AEA-511B0EE74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Detalles y preguntas sobre el diseño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0C7313-B8EF-D668-4E25-4CBEBBB20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150"/>
            <a:ext cx="10515600" cy="5638800"/>
          </a:xfrm>
        </p:spPr>
        <p:txBody>
          <a:bodyPr>
            <a:normAutofit fontScale="92500" lnSpcReduction="10000"/>
          </a:bodyPr>
          <a:lstStyle/>
          <a:p>
            <a:r>
              <a:rPr lang="es-CL" sz="1400" dirty="0"/>
              <a:t>Muestra: adultos sobre 50, será necesario si ahora el perfil viene dado? Un enfoque mas de “apoyo a la decisión” no necesariamente a adultos próximos a jubilar, sino que también a quienes ayudan a esos adultos a tomar las decisiones (decisión familiar) </a:t>
            </a:r>
          </a:p>
          <a:p>
            <a:r>
              <a:rPr lang="es-CL" sz="1400" dirty="0"/>
              <a:t>Instrucciones: (Tarea general / Dual </a:t>
            </a:r>
            <a:r>
              <a:rPr lang="es-CL" sz="1400" dirty="0" err="1"/>
              <a:t>task</a:t>
            </a:r>
            <a:r>
              <a:rPr lang="es-CL" sz="1400" dirty="0"/>
              <a:t> (esto lo vi solo en computadora, no en dispositivo móvil)/ estructura de Pagos)</a:t>
            </a:r>
          </a:p>
          <a:p>
            <a:pPr lvl="1"/>
            <a:r>
              <a:rPr lang="es-CL" sz="1200" dirty="0">
                <a:highlight>
                  <a:srgbClr val="C0C0C0"/>
                </a:highlight>
              </a:rPr>
              <a:t>Si se agrega dual </a:t>
            </a:r>
            <a:r>
              <a:rPr lang="es-CL" sz="1200" dirty="0" err="1">
                <a:highlight>
                  <a:srgbClr val="C0C0C0"/>
                </a:highlight>
              </a:rPr>
              <a:t>task</a:t>
            </a:r>
            <a:r>
              <a:rPr lang="es-CL" sz="1200" dirty="0">
                <a:highlight>
                  <a:srgbClr val="C0C0C0"/>
                </a:highlight>
              </a:rPr>
              <a:t>, habría que hacer una prueba de la segunda tarea aquí para tener un </a:t>
            </a:r>
            <a:r>
              <a:rPr lang="es-CL" sz="1200" dirty="0" err="1">
                <a:highlight>
                  <a:srgbClr val="C0C0C0"/>
                </a:highlight>
              </a:rPr>
              <a:t>baseline</a:t>
            </a:r>
            <a:r>
              <a:rPr lang="es-CL" sz="1200" dirty="0">
                <a:highlight>
                  <a:srgbClr val="C0C0C0"/>
                </a:highlight>
              </a:rPr>
              <a:t> </a:t>
            </a:r>
          </a:p>
          <a:p>
            <a:pPr lvl="1"/>
            <a:r>
              <a:rPr lang="es-CL" sz="1200" dirty="0"/>
              <a:t>La instrucción sería: A continuación podrá ver contenido sobre el proceso de jubilación que le ayudará a apoyar la toma de decisión de Pepe</a:t>
            </a:r>
          </a:p>
          <a:p>
            <a:pPr lvl="1"/>
            <a:r>
              <a:rPr lang="es-CL" sz="1200" dirty="0"/>
              <a:t>Estructura de pagos: Por cada respuesta correcta al final de la sesión recibirá X puntos más. </a:t>
            </a:r>
          </a:p>
          <a:p>
            <a:r>
              <a:rPr lang="es-CL" sz="1400" dirty="0"/>
              <a:t>Asignación a Caso / Perfil:</a:t>
            </a:r>
          </a:p>
          <a:p>
            <a:pPr lvl="1"/>
            <a:r>
              <a:rPr lang="es-CL" sz="1200" dirty="0"/>
              <a:t>Pepe es un adulto de 64 años que esta pensando en su jubilación. La última vez que Pepe revisó su AFP tenía ahorrado X cantidad de dinero en su cuenta de capitalización individual, por lo tanto </a:t>
            </a:r>
            <a:r>
              <a:rPr lang="es-CL" sz="1200" dirty="0">
                <a:highlight>
                  <a:srgbClr val="FFFF00"/>
                </a:highlight>
              </a:rPr>
              <a:t>NO TIENE/TIENE </a:t>
            </a:r>
            <a:r>
              <a:rPr lang="es-CL" sz="1200" dirty="0"/>
              <a:t>derecho a ingresar a SCOMP. Además, Pepe </a:t>
            </a:r>
            <a:r>
              <a:rPr lang="es-CL" sz="1200" dirty="0">
                <a:highlight>
                  <a:srgbClr val="FFFF00"/>
                </a:highlight>
              </a:rPr>
              <a:t>TIENE/TENÍA </a:t>
            </a:r>
            <a:r>
              <a:rPr lang="es-CL" sz="1200" dirty="0"/>
              <a:t>una esposa ya jubilada de 62 años y </a:t>
            </a:r>
            <a:r>
              <a:rPr lang="es-CL" sz="1200" dirty="0">
                <a:highlight>
                  <a:srgbClr val="FFFF00"/>
                </a:highlight>
              </a:rPr>
              <a:t>TIENE/NO TIENE</a:t>
            </a:r>
            <a:r>
              <a:rPr lang="es-CL" sz="1200" dirty="0"/>
              <a:t> hijos menores de 24 años </a:t>
            </a:r>
            <a:r>
              <a:rPr lang="es-CL" sz="1200" dirty="0" err="1"/>
              <a:t>años</a:t>
            </a:r>
            <a:r>
              <a:rPr lang="es-CL" sz="1200" dirty="0"/>
              <a:t> que se encuentren estudiando. </a:t>
            </a:r>
            <a:r>
              <a:rPr lang="es-CL" sz="1200" dirty="0">
                <a:highlight>
                  <a:srgbClr val="FFFF00"/>
                </a:highlight>
              </a:rPr>
              <a:t>Pepe tiene una buena salud, por lo que espera vivir muchos años y le importa mantener una pensión estable en el tiempo / Pepe tiene una muy mala salud, por lo que espera no vivir muchos años, por lo que le importa obtener los mayores beneficios lo más pronto posible / Pepe tiene una muy mala salud, por lo que espera no vivir muchos años, pero quiere dejar a su esposa asegurada después de fallecer. </a:t>
            </a:r>
          </a:p>
          <a:p>
            <a:r>
              <a:rPr lang="es-CL" sz="1400" dirty="0"/>
              <a:t>Asignación a Tratamiento y Control </a:t>
            </a:r>
          </a:p>
          <a:p>
            <a:pPr lvl="1"/>
            <a:r>
              <a:rPr lang="es-CL" sz="1200" dirty="0"/>
              <a:t>Tratamiento: secuencia guiada con ruta óptima para el perfil, solo disponible botón de “Siguiente” o se puede retroceder también? ¿Le agregamos barra de progreso? ¿le mostramos el título del contenido que viene?</a:t>
            </a:r>
          </a:p>
          <a:p>
            <a:pPr lvl="1"/>
            <a:r>
              <a:rPr lang="es-CL" sz="1200" dirty="0"/>
              <a:t>Control: navegación libre (mismo set de contenidos o todos los contenidos, que pasa con el tiempo, se le exige un tiempo mínimo de navegación?, la dual </a:t>
            </a:r>
            <a:r>
              <a:rPr lang="es-CL" sz="1200" dirty="0" err="1"/>
              <a:t>task</a:t>
            </a:r>
            <a:r>
              <a:rPr lang="es-CL" sz="1200" dirty="0"/>
              <a:t> como se integra aquí? (a priori no lo vi), le agregamos un buscador?) </a:t>
            </a:r>
          </a:p>
          <a:p>
            <a:r>
              <a:rPr lang="es-CL" sz="1400" dirty="0"/>
              <a:t>Instructivo o guía de Navegación: para tratamiento y control, hay que explicar como moverse dentro del sistema y recordar la dual </a:t>
            </a:r>
            <a:r>
              <a:rPr lang="es-CL" sz="1400" dirty="0" err="1"/>
              <a:t>task</a:t>
            </a:r>
            <a:r>
              <a:rPr lang="es-CL" sz="1400" dirty="0"/>
              <a:t> si es que se agrega </a:t>
            </a:r>
          </a:p>
          <a:p>
            <a:r>
              <a:rPr lang="es-CL" sz="1400" dirty="0"/>
              <a:t>Sesión de aprendizaje para ambos grupos: </a:t>
            </a:r>
          </a:p>
          <a:p>
            <a:pPr lvl="1"/>
            <a:r>
              <a:rPr lang="es-CL" sz="1200" dirty="0"/>
              <a:t>Agregamos por aquí entremedio otras preguntas de carga cognitiva </a:t>
            </a:r>
            <a:r>
              <a:rPr lang="es-CL" sz="1200" dirty="0" err="1"/>
              <a:t>autoreportada</a:t>
            </a:r>
            <a:r>
              <a:rPr lang="es-CL" sz="1200" dirty="0"/>
              <a:t>? De que queremos saber la carga cognitiva: de como toman las decisiones al final o del proceso de aprendizaje, o de ambas? Si es de ambas, habría que ver cómo separamos las preguntas para que no se contaminen, podría ser a través de la navegación dual </a:t>
            </a:r>
            <a:r>
              <a:rPr lang="es-CL" sz="1200" dirty="0" err="1"/>
              <a:t>task</a:t>
            </a:r>
            <a:r>
              <a:rPr lang="es-CL" sz="1200" dirty="0"/>
              <a:t> y </a:t>
            </a:r>
            <a:r>
              <a:rPr lang="es-CL" sz="1200" dirty="0" err="1"/>
              <a:t>autoreporte</a:t>
            </a:r>
            <a:r>
              <a:rPr lang="es-CL" sz="1200" dirty="0"/>
              <a:t> de esfuerzo mental y en las preguntas </a:t>
            </a:r>
            <a:r>
              <a:rPr lang="es-CL" sz="1200" dirty="0" err="1"/>
              <a:t>autoreporte</a:t>
            </a:r>
            <a:r>
              <a:rPr lang="es-CL" sz="1200" dirty="0"/>
              <a:t> de dificultad y el pago de la respuesta correcta en el tiempo.</a:t>
            </a:r>
          </a:p>
          <a:p>
            <a:r>
              <a:rPr lang="es-CL" sz="1400" dirty="0"/>
              <a:t> </a:t>
            </a:r>
            <a:r>
              <a:rPr lang="es-CL" sz="1400" dirty="0" err="1"/>
              <a:t>Outcomes</a:t>
            </a:r>
            <a:r>
              <a:rPr lang="es-CL" sz="1400" dirty="0"/>
              <a:t>: </a:t>
            </a:r>
          </a:p>
          <a:p>
            <a:pPr lvl="1"/>
            <a:r>
              <a:rPr lang="es-CL" sz="1200" dirty="0"/>
              <a:t>Aprendizaje: Cuestionario enfocado en rellenar el SCOMP para PEPE, mismas preguntas pero con diferentes respuestas correctas.  </a:t>
            </a:r>
          </a:p>
          <a:p>
            <a:pPr lvl="1"/>
            <a:r>
              <a:rPr lang="es-CL" sz="1200" dirty="0"/>
              <a:t>Carga cognitiva, si se decidió no medir subjetivamente en cada tarea, se podría medir subjetivamente acá la experiencia completa con una escala de autopercepción más larga. </a:t>
            </a:r>
          </a:p>
          <a:p>
            <a:pPr lvl="1"/>
            <a:r>
              <a:rPr lang="es-CL" sz="1200" dirty="0"/>
              <a:t>Variables Sociodemográficas </a:t>
            </a:r>
          </a:p>
        </p:txBody>
      </p:sp>
    </p:spTree>
    <p:extLst>
      <p:ext uri="{BB962C8B-B14F-4D97-AF65-F5344CB8AC3E}">
        <p14:creationId xmlns:p14="http://schemas.microsoft.com/office/powerpoint/2010/main" val="1135466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9D1790-5382-9ED0-3410-6A4655B96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F5FE36-5BA6-28F9-889C-414C8B6FF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7141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AEAA34-5AEE-105C-2897-758BE17B6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EE6FB9-D199-C719-E66D-E0E6103D0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4813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3288</TotalTime>
  <Words>2009</Words>
  <Application>Microsoft Office PowerPoint</Application>
  <PresentationFormat>Panorámica</PresentationFormat>
  <Paragraphs>245</Paragraphs>
  <Slides>12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Flujo diseño</vt:lpstr>
      <vt:lpstr>Presentación de PowerPoint</vt:lpstr>
      <vt:lpstr>Presentación de PowerPoint</vt:lpstr>
      <vt:lpstr>Presentación de PowerPoint</vt:lpstr>
      <vt:lpstr>Presentación de PowerPoint</vt:lpstr>
      <vt:lpstr>Detalles y preguntas sobre el diseño 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Camila Utreras</dc:creator>
  <cp:lastModifiedBy>Camila Utreras</cp:lastModifiedBy>
  <cp:revision>1</cp:revision>
  <dcterms:created xsi:type="dcterms:W3CDTF">2026-01-29T15:17:38Z</dcterms:created>
  <dcterms:modified xsi:type="dcterms:W3CDTF">2026-02-18T21:21:58Z</dcterms:modified>
</cp:coreProperties>
</file>